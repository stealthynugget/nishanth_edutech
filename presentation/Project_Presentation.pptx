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Neighbour-vote AUC (fail or withdraw)</c:v>
                </c:pt>
              </c:strCache>
            </c:strRef>
          </c:tx>
          <c:spPr>
            <a:solidFill>
              <a:srgbClr val="2D7A5A"/>
            </a:solidFill>
          </c:spPr>
          <c:cat>
            <c:strRef>
              <c:f>Sheet1!$A$2:$A$6</c:f>
              <c:strCache>
                <c:ptCount val="5"/>
                <c:pt idx="0">
                  <c:v>hybrid</c:v>
                </c:pt>
                <c:pt idx="1">
                  <c:v>behavioural</c:v>
                </c:pt>
                <c:pt idx="2">
                  <c:v>lexical</c:v>
                </c:pt>
                <c:pt idx="3">
                  <c:v>dense</c:v>
                </c:pt>
                <c:pt idx="4">
                  <c:v>random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0.8349760765550238</c:v>
                </c:pt>
                <c:pt idx="1">
                  <c:v>0.8292404306220096</c:v>
                </c:pt>
                <c:pt idx="2">
                  <c:v>0.8364712918660288</c:v>
                </c:pt>
                <c:pt idx="3">
                  <c:v>0.8304844497607655</c:v>
                </c:pt>
                <c:pt idx="4">
                  <c:v>0.5120334928229665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solidFill>
                    <a:srgbClr val="1732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EE5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3E9EE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5606E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17324D"/>
            </a:solidFill>
          </c:spPr>
          <c:cat>
            <c:strRef>
              <c:f>Sheet1!$A$2:$A$5</c:f>
              <c:strCache>
                <c:ptCount val="4"/>
                <c:pt idx="0">
                  <c:v>week 5</c:v>
                </c:pt>
                <c:pt idx="1">
                  <c:v>week 9</c:v>
                </c:pt>
                <c:pt idx="2">
                  <c:v>week 15</c:v>
                </c:pt>
                <c:pt idx="3">
                  <c:v>week 22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0.6861329556239586</c:v>
                </c:pt>
                <c:pt idx="1">
                  <c:v>0.7003070619008248</c:v>
                </c:pt>
                <c:pt idx="2">
                  <c:v>0.7255685308195328</c:v>
                </c:pt>
                <c:pt idx="3">
                  <c:v>0.773455500635073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1F6F8B"/>
            </a:solidFill>
          </c:spPr>
          <c:cat>
            <c:strRef>
              <c:f>Sheet1!$A$2:$A$5</c:f>
              <c:strCache>
                <c:ptCount val="4"/>
                <c:pt idx="0">
                  <c:v>week 5</c:v>
                </c:pt>
                <c:pt idx="1">
                  <c:v>week 9</c:v>
                </c:pt>
                <c:pt idx="2">
                  <c:v>week 15</c:v>
                </c:pt>
                <c:pt idx="3">
                  <c:v>week 22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0.31596324382933005</c:v>
                </c:pt>
                <c:pt idx="1">
                  <c:v>0.2893076585124664</c:v>
                </c:pt>
                <c:pt idx="2">
                  <c:v>0.26301911267610545</c:v>
                </c:pt>
                <c:pt idx="3">
                  <c:v>0.1759725473938002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Share who later withdraw</c:v>
                </c:pt>
              </c:strCache>
            </c:strRef>
          </c:tx>
          <c:spPr>
            <a:solidFill>
              <a:srgbClr val="9FB3C3"/>
            </a:solidFill>
          </c:spPr>
          <c:cat>
            <c:strRef>
              <c:f>Sheet1!$A$2:$A$5</c:f>
              <c:strCache>
                <c:ptCount val="4"/>
                <c:pt idx="0">
                  <c:v>week 5</c:v>
                </c:pt>
                <c:pt idx="1">
                  <c:v>week 9</c:v>
                </c:pt>
                <c:pt idx="2">
                  <c:v>week 15</c:v>
                </c:pt>
                <c:pt idx="3">
                  <c:v>week 22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0.1791077738515901</c:v>
                </c:pt>
                <c:pt idx="1">
                  <c:v>0.1500114337983078</c:v>
                </c:pt>
                <c:pt idx="2">
                  <c:v>0.11257013250567029</c:v>
                </c:pt>
                <c:pt idx="3">
                  <c:v>0.05815279361459521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solidFill>
                    <a:srgbClr val="1732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EE5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3E9EE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55606E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DeepEval mean score</c:v>
                </c:pt>
              </c:strCache>
            </c:strRef>
          </c:tx>
          <c:spPr>
            <a:solidFill>
              <a:srgbClr val="6B4AA0"/>
            </a:solidFill>
          </c:spPr>
          <c:cat>
            <c:strRef>
              <c:f>Sheet1!$A$2:$A$6</c:f>
              <c:strCache>
                <c:ptCount val="5"/>
                <c:pt idx="0">
                  <c:v>Actionable</c:v>
                </c:pt>
                <c:pt idx="1">
                  <c:v>AnswerRelevancy</c:v>
                </c:pt>
                <c:pt idx="2">
                  <c:v>Faithfulness</c:v>
                </c:pt>
                <c:pt idx="3">
                  <c:v>No protected attr.</c:v>
                </c:pt>
                <c:pt idx="4">
                  <c:v>Supportive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0.6583333333333333</c:v>
                </c:pt>
                <c:pt idx="1">
                  <c:v>1.0</c:v>
                </c:pt>
                <c:pt idx="2">
                  <c:v>1.0</c:v>
                </c:pt>
                <c:pt idx="3">
                  <c:v>0.9708333333333332</c:v>
                </c:pt>
                <c:pt idx="4">
                  <c:v>0.9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>
                  <a:solidFill>
                    <a:srgbClr val="1732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EE5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b"/>
        <c:majorGridlines>
          <c:spPr>
            <a:ln>
              <a:solidFill>
                <a:srgbClr val="E3E9EE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5606E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Uplift is an AI student-success assistant for Open University module teams. It finds students who may withdraw or fail while there is still time, shows what happened to similar students before, and drafts a supportive plan that an advisor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Advisors have thousands of records and little time. The brief asks three questions: have similar students struggled before, which factors are behind poor outcomes, and who should be supported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Early contact is what changes outcomes, but capacity is limited: if an advisor can call 10% of a cohort, the list must be right at the top. Advisors also need reasons they can defend and supportive messages.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Early warning with reasons, a ranked contact list, similar historical students, a multi-agent support plan with an outreach draft, a copilot, and evaluation with a feedback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Bottom: dataset, preprocessing, one document per enrolment, embeddings, LanceDB plus BM25, model training. Middle: React console, FastAPI with input guardrails, the LangGraph workflow. Claude drafts text; code decides facts; every step has a computed fallback. Evaluation and the feedback loop alongside.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OULAD becomes snapshot features at each checkpoint. Scoring students who already left would inflate ROC-AUC to 0.749 instead of 0.726.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 in three tiers by measured need; e5-small-v2 won a five-model comparison; LanceDB embedded with filters pushed into the search; LangGraph for the agent graph; XGBoost with TreeSHAP; FastAPI and React.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Performance and risk agents, a router, the intervention agent choosing 2 to 4 eligible actions and drafting the message, a critic in code, one revision, then a deterministic fallback. Precedent synthesis afterwards.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Behavioural vectors weighted by what predicts outcomes, BM25 over descriptor tokens, e5 dense embeddings of narratives; weighted reciprocal rank fusion; filters pushed into LanceDB.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ROC-AUC on a later presentation, calibrated, the High tier catches half the withdrawals; accuracy rises through the course while fewer students remain to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the demo script in docs/Presentation_Guide: This week, student case file and support plan, case finder, copilot, model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 checks on every output; LLM-as-judge with an order-swapped A/B; DeepEval; RAGAS; human review and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Sensitive attributes never model inputs and never sent to the LLM; every output checked for protected, punitive and clinical wording; fairness gaps tested against chance and reported.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evaluation first; numbers do not belong in text embeddings; LLM narrates, code decides; reject improvements that do not hold on the test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questions; offer to show any part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874395" y="1337310"/>
            <a:ext cx="720090" cy="411480"/>
          </a:xfrm>
          <a:custGeom>
            <a:avLst/>
            <a:gdLst/>
            <a:ahLst/>
            <a:cxnLst/>
            <a:rect l="l" t="t" r="r" b="b"/>
            <a:pathLst>
              <a:path w="720090" h="411480">
                <a:moveTo>
                  <a:pt x="0" y="188595"/>
                </a:moveTo>
                <a:lnTo>
                  <a:pt x="102870" y="154305"/>
                </a:lnTo>
                <a:lnTo>
                  <a:pt x="240030" y="411480"/>
                </a:lnTo>
                <a:lnTo>
                  <a:pt x="360045" y="291465"/>
                </a:lnTo>
                <a:lnTo>
                  <a:pt x="445770" y="325755"/>
                </a:lnTo>
                <a:lnTo>
                  <a:pt x="720090" y="0"/>
                </a:lnTo>
              </a:path>
            </a:pathLst>
          </a:custGeom>
          <a:noFill/>
          <a:ln w="29718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74395" y="1971675"/>
            <a:ext cx="720090" cy="0"/>
          </a:xfrm>
          <a:prstGeom prst="line">
            <a:avLst/>
          </a:prstGeom>
          <a:ln w="12573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iamond 3"/>
          <p:cNvSpPr/>
          <p:nvPr/>
        </p:nvSpPr>
        <p:spPr>
          <a:xfrm>
            <a:off x="1004696" y="1639062"/>
            <a:ext cx="219456" cy="219456"/>
          </a:xfrm>
          <a:prstGeom prst="diamond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143000"/>
            <a:ext cx="91440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Segoe UI"/>
              </a:rPr>
              <a:t>Uplift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105156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3200" b="0">
                <a:solidFill>
                  <a:srgbClr val="FFFFFF"/>
                </a:solidFill>
                <a:latin typeface="Segoe UI"/>
              </a:rPr>
              <a:t>AI-Powered Student Success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5156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C9D7E2"/>
                </a:solidFill>
                <a:latin typeface="Segoe UI"/>
              </a:rPr>
              <a:t>Early warning, similar past students and supportive action plans for Open University module teams: hybrid RAG, a multi-agent workflow, calibrated prediction models and LLM-as-judge evaluation.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343400"/>
            <a:ext cx="3291840" cy="54864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C9D7E2"/>
                </a:solidFill>
                <a:latin typeface="Segoe UI"/>
              </a:rPr>
              <a:t>Capstone project · Education domain · Open University Learning Analytics Dataset (OULAD)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37760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Nishanth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1F6F8B"/>
                </a:solidFill>
                <a:latin typeface="Segoe U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7324D"/>
                </a:solidFill>
                <a:latin typeface="Segoe UI"/>
              </a:rPr>
              <a:t>Advisors cannot read thousands of records in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D6B7A"/>
                </a:solidFill>
                <a:latin typeface="Segoe UI"/>
              </a:rPr>
              <a:t>Students who disengage or fall behind are found too late, and dashboards say who, not why or what to do.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109960" cy="0"/>
          </a:xfrm>
          <a:prstGeom prst="line">
            <a:avLst/>
          </a:prstGeom>
          <a:ln w="9525">
            <a:solidFill>
              <a:srgbClr val="D5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 6"/>
          <p:cNvSpPr/>
          <p:nvPr/>
        </p:nvSpPr>
        <p:spPr>
          <a:xfrm>
            <a:off x="561213" y="6544818"/>
            <a:ext cx="176021" cy="100584"/>
          </a:xfrm>
          <a:custGeom>
            <a:avLst/>
            <a:gdLst/>
            <a:ahLst/>
            <a:cxnLst/>
            <a:rect l="l" t="t" r="r" b="b"/>
            <a:pathLst>
              <a:path w="176021" h="100584">
                <a:moveTo>
                  <a:pt x="0" y="46101"/>
                </a:moveTo>
                <a:lnTo>
                  <a:pt x="25146" y="37719"/>
                </a:lnTo>
                <a:lnTo>
                  <a:pt x="58674" y="100584"/>
                </a:lnTo>
                <a:lnTo>
                  <a:pt x="88011" y="71247"/>
                </a:lnTo>
                <a:lnTo>
                  <a:pt x="108966" y="79629"/>
                </a:lnTo>
                <a:lnTo>
                  <a:pt x="176021" y="0"/>
                </a:lnTo>
              </a:path>
            </a:pathLst>
          </a:custGeom>
          <a:noFill/>
          <a:ln w="1905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61213" y="6699885"/>
            <a:ext cx="176021" cy="0"/>
          </a:xfrm>
          <a:prstGeom prst="line">
            <a:avLst/>
          </a:prstGeom>
          <a:ln w="9525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iamond 8"/>
          <p:cNvSpPr/>
          <p:nvPr/>
        </p:nvSpPr>
        <p:spPr>
          <a:xfrm>
            <a:off x="593064" y="6618579"/>
            <a:ext cx="53644" cy="53644"/>
          </a:xfrm>
          <a:prstGeom prst="diamond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510528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5D6B7A"/>
                </a:solidFill>
                <a:latin typeface="Segoe UI"/>
              </a:rPr>
              <a:t>Uplift · Student Success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10528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5D6B7A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5120640" cy="4206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F6F8B"/>
                </a:solidFill>
                <a:latin typeface="Segoe UI"/>
              </a:rPr>
              <a:t>•  </a:t>
            </a:r>
            <a:r>
              <a:rPr sz="1600" b="0">
                <a:solidFill>
                  <a:srgbClr val="17324D"/>
                </a:solidFill>
                <a:latin typeface="Segoe UI"/>
              </a:rPr>
              <a:t>Module teams hold rich data: profiles, assessment results, daily online activity, registration history, outcomes.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F6F8B"/>
                </a:solidFill>
                <a:latin typeface="Segoe UI"/>
              </a:rPr>
              <a:t>•  </a:t>
            </a:r>
            <a:r>
              <a:rPr sz="1600" b="0">
                <a:solidFill>
                  <a:srgbClr val="17324D"/>
                </a:solidFill>
                <a:latin typeface="Segoe UI"/>
              </a:rPr>
              <a:t>Reviewing it by hand is slow and inconsistent; warning signs are spread across tables and weeks.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F6F8B"/>
                </a:solidFill>
                <a:latin typeface="Segoe UI"/>
              </a:rPr>
              <a:t>•  </a:t>
            </a:r>
            <a:r>
              <a:rPr sz="1600" b="0">
                <a:solidFill>
                  <a:srgbClr val="17324D"/>
                </a:solidFill>
                <a:latin typeface="Segoe UI"/>
              </a:rPr>
              <a:t>By the time a student formally withdraws, it is too late to help: </a:t>
            </a:r>
            <a:r>
              <a:rPr sz="1600" b="1">
                <a:solidFill>
                  <a:srgbClr val="17324D"/>
                </a:solidFill>
                <a:latin typeface="Segoe UI"/>
              </a:rPr>
              <a:t>75%</a:t>
            </a:r>
            <a:r>
              <a:rPr sz="1600" b="0">
                <a:solidFill>
                  <a:srgbClr val="17324D"/>
                </a:solidFill>
                <a:latin typeface="Segoe UI"/>
              </a:rPr>
              <a:t> of withdrawals in the test presentation happened before week 15.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F6F8B"/>
                </a:solidFill>
                <a:latin typeface="Segoe UI"/>
              </a:rPr>
              <a:t>•  </a:t>
            </a:r>
            <a:r>
              <a:rPr sz="1600" b="0">
                <a:solidFill>
                  <a:srgbClr val="17324D"/>
                </a:solidFill>
                <a:latin typeface="Segoe UI"/>
              </a:rPr>
              <a:t>Teams need early, explainable, prioritised and supportive guidance, with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783080"/>
            <a:ext cx="5532120" cy="1261872"/>
          </a:xfrm>
          <a:prstGeom prst="roundRect">
            <a:avLst>
              <a:gd name="adj" fmla="val 6000"/>
            </a:avLst>
          </a:prstGeom>
          <a:solidFill>
            <a:srgbClr val="EAF3F6"/>
          </a:solidFill>
          <a:ln w="15875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09360" y="1911095"/>
            <a:ext cx="7315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1F6F8B"/>
                </a:solidFill>
                <a:latin typeface="Segoe UI"/>
              </a:rPr>
              <a:t>Q1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892807"/>
            <a:ext cx="44805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17324D"/>
                </a:solidFill>
                <a:latin typeface="Segoe UI"/>
              </a:rPr>
              <a:t>Has a student with similar patterns struggled or withdrawn before?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569464"/>
            <a:ext cx="44805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D6B7A"/>
                </a:solidFill>
                <a:latin typeface="Segoe UI"/>
              </a:rPr>
              <a:t>Hybrid RAG over historical cases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246120"/>
            <a:ext cx="5532120" cy="1261872"/>
          </a:xfrm>
          <a:prstGeom prst="roundRect">
            <a:avLst>
              <a:gd name="adj" fmla="val 6000"/>
            </a:avLst>
          </a:prstGeom>
          <a:solidFill>
            <a:srgbClr val="EAF3F6"/>
          </a:solidFill>
          <a:ln w="15875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09360" y="3374136"/>
            <a:ext cx="7315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1F6F8B"/>
                </a:solidFill>
                <a:latin typeface="Segoe UI"/>
              </a:rPr>
              <a:t>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355848"/>
            <a:ext cx="44805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17324D"/>
                </a:solidFill>
                <a:latin typeface="Segoe UI"/>
              </a:rPr>
              <a:t>What factors are associated with poor performance or withdrawal?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032504"/>
            <a:ext cx="44805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D6B7A"/>
                </a:solidFill>
                <a:latin typeface="Segoe UI"/>
              </a:rPr>
              <a:t>Explainable models and insights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4709160"/>
            <a:ext cx="5532120" cy="1261872"/>
          </a:xfrm>
          <a:prstGeom prst="roundRect">
            <a:avLst>
              <a:gd name="adj" fmla="val 6000"/>
            </a:avLst>
          </a:prstGeom>
          <a:solidFill>
            <a:srgbClr val="EAF3F6"/>
          </a:solidFill>
          <a:ln w="15875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09360" y="4837176"/>
            <a:ext cx="7315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1F6F8B"/>
                </a:solidFill>
                <a:latin typeface="Segoe UI"/>
              </a:rPr>
              <a:t>Q3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818888"/>
            <a:ext cx="44805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17324D"/>
                </a:solidFill>
                <a:latin typeface="Segoe UI"/>
              </a:rPr>
              <a:t>Which students should be prioritised for support?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5495544"/>
            <a:ext cx="44805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D6B7A"/>
                </a:solidFill>
                <a:latin typeface="Segoe UI"/>
              </a:rPr>
              <a:t>Capacity-aware ranking and agent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1F6F8B"/>
                </a:solidFill>
                <a:latin typeface="Segoe UI"/>
              </a:rPr>
              <a:t>BUSINESS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7324D"/>
                </a:solidFill>
                <a:latin typeface="Segoe UI"/>
              </a:rPr>
              <a:t>Reach the right students early, with reasons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D6B7A"/>
                </a:solidFill>
                <a:latin typeface="Segoe UI"/>
              </a:rPr>
              <a:t>Capacity is limited, so the top of the list must be right, and every recommendation must be defensible.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109960" cy="0"/>
          </a:xfrm>
          <a:prstGeom prst="line">
            <a:avLst/>
          </a:prstGeom>
          <a:ln w="9525">
            <a:solidFill>
              <a:srgbClr val="D5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 6"/>
          <p:cNvSpPr/>
          <p:nvPr/>
        </p:nvSpPr>
        <p:spPr>
          <a:xfrm>
            <a:off x="561213" y="6544818"/>
            <a:ext cx="176021" cy="100584"/>
          </a:xfrm>
          <a:custGeom>
            <a:avLst/>
            <a:gdLst/>
            <a:ahLst/>
            <a:cxnLst/>
            <a:rect l="l" t="t" r="r" b="b"/>
            <a:pathLst>
              <a:path w="176021" h="100584">
                <a:moveTo>
                  <a:pt x="0" y="46101"/>
                </a:moveTo>
                <a:lnTo>
                  <a:pt x="25146" y="37719"/>
                </a:lnTo>
                <a:lnTo>
                  <a:pt x="58674" y="100584"/>
                </a:lnTo>
                <a:lnTo>
                  <a:pt x="88011" y="71247"/>
                </a:lnTo>
                <a:lnTo>
                  <a:pt x="108966" y="79629"/>
                </a:lnTo>
                <a:lnTo>
                  <a:pt x="176021" y="0"/>
                </a:lnTo>
              </a:path>
            </a:pathLst>
          </a:custGeom>
          <a:noFill/>
          <a:ln w="1905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61213" y="6699885"/>
            <a:ext cx="176021" cy="0"/>
          </a:xfrm>
          <a:prstGeom prst="line">
            <a:avLst/>
          </a:prstGeom>
          <a:ln w="9525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iamond 8"/>
          <p:cNvSpPr/>
          <p:nvPr/>
        </p:nvSpPr>
        <p:spPr>
          <a:xfrm>
            <a:off x="593064" y="6618579"/>
            <a:ext cx="53644" cy="53644"/>
          </a:xfrm>
          <a:prstGeom prst="diamond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510528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5D6B7A"/>
                </a:solidFill>
                <a:latin typeface="Segoe UI"/>
              </a:rPr>
              <a:t>Uplift · Student Success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10528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5D6B7A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17324D"/>
                </a:solidFill>
                <a:latin typeface="Segoe UI"/>
              </a:rPr>
              <a:t>25,204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95728"/>
            <a:ext cx="256032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50" b="0">
                <a:solidFill>
                  <a:srgbClr val="5D6B7A"/>
                </a:solidFill>
                <a:latin typeface="Segoe UI"/>
              </a:rPr>
              <a:t>students still enrolled at week 15 (all modules)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B23A2B"/>
                </a:solidFill>
                <a:latin typeface="Segoe UI"/>
              </a:rPr>
              <a:t>11.3%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395728"/>
            <a:ext cx="256032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50" b="0">
                <a:solidFill>
                  <a:srgbClr val="5D6B7A"/>
                </a:solidFill>
                <a:latin typeface="Segoe UI"/>
              </a:rPr>
              <a:t>of them will still withdraw: the students an early warning can help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1F6F8B"/>
                </a:solidFill>
                <a:latin typeface="Segoe UI"/>
              </a:rPr>
              <a:t>98%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395728"/>
            <a:ext cx="256032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50" b="0">
                <a:solidFill>
                  <a:srgbClr val="5D6B7A"/>
                </a:solidFill>
                <a:latin typeface="Segoe UI"/>
              </a:rPr>
              <a:t>of students contacted from the top 10% later fail or withdraw (random: 34%)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1828800"/>
            <a:ext cx="25603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B7791F"/>
                </a:solidFill>
                <a:latin typeface="Segoe UI"/>
              </a:rPr>
              <a:t>50%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395728"/>
            <a:ext cx="256032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50" b="0">
                <a:solidFill>
                  <a:srgbClr val="5D6B7A"/>
                </a:solidFill>
                <a:latin typeface="Segoe UI"/>
              </a:rPr>
              <a:t>of withdrawals are in the High tier, which flags 24% of students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657600"/>
            <a:ext cx="109728" cy="347472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7240" y="3639312"/>
            <a:ext cx="109728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7324D"/>
                </a:solidFill>
                <a:latin typeface="Segoe UI"/>
              </a:rPr>
              <a:t>Early</a:t>
            </a:r>
            <a:r>
              <a:rPr sz="1500" b="0">
                <a:solidFill>
                  <a:srgbClr val="17324D"/>
                </a:solidFill>
                <a:latin typeface="Segoe UI"/>
              </a:rPr>
              <a:t>: warnings from week 5, not after the student has gone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169664"/>
            <a:ext cx="109728" cy="347472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4151376"/>
            <a:ext cx="109728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7324D"/>
                </a:solidFill>
                <a:latin typeface="Segoe UI"/>
              </a:rPr>
              <a:t>Explainable</a:t>
            </a:r>
            <a:r>
              <a:rPr sz="1500" b="0">
                <a:solidFill>
                  <a:srgbClr val="17324D"/>
                </a:solidFill>
                <a:latin typeface="Segoe UI"/>
              </a:rPr>
              <a:t>: drivers per student and what happened to similar students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681728"/>
            <a:ext cx="109728" cy="347472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" y="4663440"/>
            <a:ext cx="109728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7324D"/>
                </a:solidFill>
                <a:latin typeface="Segoe UI"/>
              </a:rPr>
              <a:t>Capacity-aware</a:t>
            </a:r>
            <a:r>
              <a:rPr sz="1500" b="0">
                <a:solidFill>
                  <a:srgbClr val="17324D"/>
                </a:solidFill>
                <a:latin typeface="Segoe UI"/>
              </a:rPr>
              <a:t>: a ranked list for the time advisors actually have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193792"/>
            <a:ext cx="109728" cy="347472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5175504"/>
            <a:ext cx="109728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7324D"/>
                </a:solidFill>
                <a:latin typeface="Segoe UI"/>
              </a:rPr>
              <a:t>Supportive and safe</a:t>
            </a:r>
            <a:r>
              <a:rPr sz="1500" b="0">
                <a:solidFill>
                  <a:srgbClr val="17324D"/>
                </a:solidFill>
                <a:latin typeface="Segoe UI"/>
              </a:rPr>
              <a:t>: never punitive, no sensitive attributes, human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705856"/>
            <a:ext cx="109728" cy="347472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7240" y="5687568"/>
            <a:ext cx="109728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7324D"/>
                </a:solidFill>
                <a:latin typeface="Segoe UI"/>
              </a:rPr>
              <a:t>Measurable</a:t>
            </a:r>
            <a:r>
              <a:rPr sz="1500" b="0">
                <a:solidFill>
                  <a:srgbClr val="17324D"/>
                </a:solidFill>
                <a:latin typeface="Segoe UI"/>
              </a:rPr>
              <a:t>: every model and AI output evaluated, cost tracked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1F6F8B"/>
                </a:solidFill>
                <a:latin typeface="Segoe UI"/>
              </a:rP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7324D"/>
                </a:solidFill>
                <a:latin typeface="Segoe UI"/>
              </a:rPr>
              <a:t>One console, six capabilities, as of a course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D6B7A"/>
                </a:solidFill>
                <a:latin typeface="Segoe UI"/>
              </a:rPr>
              <a:t>Built at weeks 5, 9, 15, 22; only students still enrolled are scored. The LLM narrates, code decides facts.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109960" cy="0"/>
          </a:xfrm>
          <a:prstGeom prst="line">
            <a:avLst/>
          </a:prstGeom>
          <a:ln w="9525">
            <a:solidFill>
              <a:srgbClr val="D5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 6"/>
          <p:cNvSpPr/>
          <p:nvPr/>
        </p:nvSpPr>
        <p:spPr>
          <a:xfrm>
            <a:off x="561213" y="6544818"/>
            <a:ext cx="176021" cy="100584"/>
          </a:xfrm>
          <a:custGeom>
            <a:avLst/>
            <a:gdLst/>
            <a:ahLst/>
            <a:cxnLst/>
            <a:rect l="l" t="t" r="r" b="b"/>
            <a:pathLst>
              <a:path w="176021" h="100584">
                <a:moveTo>
                  <a:pt x="0" y="46101"/>
                </a:moveTo>
                <a:lnTo>
                  <a:pt x="25146" y="37719"/>
                </a:lnTo>
                <a:lnTo>
                  <a:pt x="58674" y="100584"/>
                </a:lnTo>
                <a:lnTo>
                  <a:pt x="88011" y="71247"/>
                </a:lnTo>
                <a:lnTo>
                  <a:pt x="108966" y="79629"/>
                </a:lnTo>
                <a:lnTo>
                  <a:pt x="176021" y="0"/>
                </a:lnTo>
              </a:path>
            </a:pathLst>
          </a:custGeom>
          <a:noFill/>
          <a:ln w="1905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61213" y="6699885"/>
            <a:ext cx="176021" cy="0"/>
          </a:xfrm>
          <a:prstGeom prst="line">
            <a:avLst/>
          </a:prstGeom>
          <a:ln w="9525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iamond 8"/>
          <p:cNvSpPr/>
          <p:nvPr/>
        </p:nvSpPr>
        <p:spPr>
          <a:xfrm>
            <a:off x="593064" y="6618579"/>
            <a:ext cx="53644" cy="53644"/>
          </a:xfrm>
          <a:prstGeom prst="diamond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510528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5D6B7A"/>
                </a:solidFill>
                <a:latin typeface="Segoe UI"/>
              </a:rPr>
              <a:t>Uplift · Student Success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10528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5D6B7A"/>
                </a:solidFill>
                <a:latin typeface="Segoe UI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828800"/>
            <a:ext cx="35204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1965960"/>
            <a:ext cx="914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6F8B"/>
                </a:solidFill>
                <a:latin typeface="Segoe U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86000"/>
            <a:ext cx="3200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7324D"/>
                </a:solidFill>
                <a:latin typeface="Segoe UI"/>
              </a:rPr>
              <a:t>Early warning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88920"/>
            <a:ext cx="320040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D6B7A"/>
                </a:solidFill>
                <a:latin typeface="Segoe UI"/>
              </a:rPr>
              <a:t>Calibrated withdrawal risk, tier, TreeSHAP drivers and outcome probabilities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1828800"/>
            <a:ext cx="35204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80559" y="1965960"/>
            <a:ext cx="914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6F8B"/>
                </a:solidFill>
                <a:latin typeface="Segoe U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2286000"/>
            <a:ext cx="3200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7324D"/>
                </a:solidFill>
                <a:latin typeface="Segoe UI"/>
              </a:rPr>
              <a:t>Who to contact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2788920"/>
            <a:ext cx="320040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D6B7A"/>
                </a:solidFill>
                <a:latin typeface="Segoe UI"/>
              </a:rPr>
              <a:t>Ranking learned for advisor capacity, with the reasons for each student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1828800"/>
            <a:ext cx="35204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D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599" y="1965960"/>
            <a:ext cx="914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D7A5A"/>
                </a:solidFill>
                <a:latin typeface="Segoe U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9" y="2286000"/>
            <a:ext cx="3200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7324D"/>
                </a:solidFill>
                <a:latin typeface="Segoe UI"/>
              </a:rPr>
              <a:t>Similar students (RAG)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9" y="2788920"/>
            <a:ext cx="320040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D6B7A"/>
                </a:solidFill>
                <a:latin typeface="Segoe UI"/>
              </a:rPr>
              <a:t>Hybrid search over past cohorts by student or plain English, with metadata filters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069080"/>
            <a:ext cx="35204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4A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31520" y="4206240"/>
            <a:ext cx="914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6B4AA0"/>
                </a:solidFill>
                <a:latin typeface="Segoe U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526280"/>
            <a:ext cx="3200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7324D"/>
                </a:solidFill>
                <a:latin typeface="Segoe UI"/>
              </a:rPr>
              <a:t>Support plan (agents)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029200"/>
            <a:ext cx="320040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D6B7A"/>
                </a:solidFill>
                <a:latin typeface="Segoe UI"/>
              </a:rPr>
              <a:t>LangGraph agents: performance, risk, intervention, critic; outreach draft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79" y="4069080"/>
            <a:ext cx="35204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4A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480559" y="4206240"/>
            <a:ext cx="914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6B4AA0"/>
                </a:solidFill>
                <a:latin typeface="Segoe U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59" y="4526280"/>
            <a:ext cx="3200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7324D"/>
                </a:solidFill>
                <a:latin typeface="Segoe UI"/>
              </a:rPr>
              <a:t>Copilot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59" y="5029200"/>
            <a:ext cx="320040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D6B7A"/>
                </a:solidFill>
                <a:latin typeface="Segoe UI"/>
              </a:rPr>
              <a:t>Questions answered by tool calls over the same computed functions, streamed and checked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19" y="4069080"/>
            <a:ext cx="35204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229599" y="4206240"/>
            <a:ext cx="914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B7791F"/>
                </a:solidFill>
                <a:latin typeface="Segoe U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9" y="4526280"/>
            <a:ext cx="3200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7324D"/>
                </a:solidFill>
                <a:latin typeface="Segoe UI"/>
              </a:rPr>
              <a:t>Insights and evaluation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9" y="5029200"/>
            <a:ext cx="320040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D6B7A"/>
                </a:solidFill>
                <a:latin typeface="Segoe UI"/>
              </a:rPr>
              <a:t>Factors, trends, fairness; DeepEval, RAGAS, judge; approved updates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1F6F8B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7324D"/>
                </a:solidFill>
                <a:latin typeface="Segoe UI"/>
              </a:rPr>
              <a:t>Offline build per checkpoint, online agents behind FastAPI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46520"/>
            <a:ext cx="11109960" cy="0"/>
          </a:xfrm>
          <a:prstGeom prst="line">
            <a:avLst/>
          </a:prstGeom>
          <a:ln w="9525">
            <a:solidFill>
              <a:srgbClr val="D5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reeform 5"/>
          <p:cNvSpPr/>
          <p:nvPr/>
        </p:nvSpPr>
        <p:spPr>
          <a:xfrm>
            <a:off x="561213" y="6544818"/>
            <a:ext cx="176021" cy="100584"/>
          </a:xfrm>
          <a:custGeom>
            <a:avLst/>
            <a:gdLst/>
            <a:ahLst/>
            <a:cxnLst/>
            <a:rect l="l" t="t" r="r" b="b"/>
            <a:pathLst>
              <a:path w="176021" h="100584">
                <a:moveTo>
                  <a:pt x="0" y="46101"/>
                </a:moveTo>
                <a:lnTo>
                  <a:pt x="25146" y="37719"/>
                </a:lnTo>
                <a:lnTo>
                  <a:pt x="58674" y="100584"/>
                </a:lnTo>
                <a:lnTo>
                  <a:pt x="88011" y="71247"/>
                </a:lnTo>
                <a:lnTo>
                  <a:pt x="108966" y="79629"/>
                </a:lnTo>
                <a:lnTo>
                  <a:pt x="176021" y="0"/>
                </a:lnTo>
              </a:path>
            </a:pathLst>
          </a:custGeom>
          <a:noFill/>
          <a:ln w="1905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1213" y="6699885"/>
            <a:ext cx="176021" cy="0"/>
          </a:xfrm>
          <a:prstGeom prst="line">
            <a:avLst/>
          </a:prstGeom>
          <a:ln w="9525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iamond 7"/>
          <p:cNvSpPr/>
          <p:nvPr/>
        </p:nvSpPr>
        <p:spPr>
          <a:xfrm>
            <a:off x="593064" y="6618579"/>
            <a:ext cx="53644" cy="53644"/>
          </a:xfrm>
          <a:prstGeom prst="diamond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510528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5D6B7A"/>
                </a:solidFill>
                <a:latin typeface="Segoe UI"/>
              </a:rPr>
              <a:t>Uplift · Student Success 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10528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5D6B7A"/>
                </a:solidFill>
                <a:latin typeface="Segoe UI"/>
              </a:rPr>
              <a:t>5</a:t>
            </a:r>
          </a:p>
        </p:txBody>
      </p:sp>
      <p:pic>
        <p:nvPicPr>
          <p:cNvPr id="11" name="Picture 10" descr="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07008"/>
            <a:ext cx="10835640" cy="55261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1F6F8B"/>
                </a:solidFill>
                <a:latin typeface="Segoe UI"/>
              </a:rPr>
              <a:t>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7324D"/>
                </a:solidFill>
                <a:latin typeface="Segoe UI"/>
              </a:rPr>
              <a:t>From seven OULAD tables to a checked support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D6B7A"/>
                </a:solidFill>
                <a:latin typeface="Segoe UI"/>
              </a:rPr>
              <a:t>Only data dated before the checkpoint is used, and only students still enrolled are scored.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109960" cy="0"/>
          </a:xfrm>
          <a:prstGeom prst="line">
            <a:avLst/>
          </a:prstGeom>
          <a:ln w="9525">
            <a:solidFill>
              <a:srgbClr val="D5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 6"/>
          <p:cNvSpPr/>
          <p:nvPr/>
        </p:nvSpPr>
        <p:spPr>
          <a:xfrm>
            <a:off x="561213" y="6544818"/>
            <a:ext cx="176021" cy="100584"/>
          </a:xfrm>
          <a:custGeom>
            <a:avLst/>
            <a:gdLst/>
            <a:ahLst/>
            <a:cxnLst/>
            <a:rect l="l" t="t" r="r" b="b"/>
            <a:pathLst>
              <a:path w="176021" h="100584">
                <a:moveTo>
                  <a:pt x="0" y="46101"/>
                </a:moveTo>
                <a:lnTo>
                  <a:pt x="25146" y="37719"/>
                </a:lnTo>
                <a:lnTo>
                  <a:pt x="58674" y="100584"/>
                </a:lnTo>
                <a:lnTo>
                  <a:pt x="88011" y="71247"/>
                </a:lnTo>
                <a:lnTo>
                  <a:pt x="108966" y="79629"/>
                </a:lnTo>
                <a:lnTo>
                  <a:pt x="176021" y="0"/>
                </a:lnTo>
              </a:path>
            </a:pathLst>
          </a:custGeom>
          <a:noFill/>
          <a:ln w="1905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61213" y="6699885"/>
            <a:ext cx="176021" cy="0"/>
          </a:xfrm>
          <a:prstGeom prst="line">
            <a:avLst/>
          </a:prstGeom>
          <a:ln w="9525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iamond 8"/>
          <p:cNvSpPr/>
          <p:nvPr/>
        </p:nvSpPr>
        <p:spPr>
          <a:xfrm>
            <a:off x="593064" y="6618579"/>
            <a:ext cx="53644" cy="53644"/>
          </a:xfrm>
          <a:prstGeom prst="diamond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510528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5D6B7A"/>
                </a:solidFill>
                <a:latin typeface="Segoe UI"/>
              </a:rPr>
              <a:t>Uplift · Student Success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10528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5D6B7A"/>
                </a:solidFill>
                <a:latin typeface="Segoe U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37360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55606E"/>
                </a:solidFill>
                <a:latin typeface="Segoe UI"/>
              </a:rPr>
              <a:t>OFFLINE  ·  python -m src.cli build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057400"/>
            <a:ext cx="1645920" cy="96012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 w="15875">
            <a:solidFill>
              <a:srgbClr val="55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1792" y="2121408"/>
            <a:ext cx="15087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7324D"/>
                </a:solidFill>
                <a:latin typeface="Segoe UI"/>
              </a:rPr>
              <a:t>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487168"/>
            <a:ext cx="15087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D6B7A"/>
                </a:solidFill>
                <a:latin typeface="Segoe UI"/>
              </a:rPr>
              <a:t>7 CSV tables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41448" y="2057400"/>
            <a:ext cx="1645920" cy="96012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 w="15875">
            <a:solidFill>
              <a:srgbClr val="55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514600" y="2121408"/>
            <a:ext cx="15087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7324D"/>
                </a:solidFill>
                <a:latin typeface="Segoe UI"/>
              </a:rPr>
              <a:t>Preprocess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487168"/>
            <a:ext cx="15087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D6B7A"/>
                </a:solidFill>
                <a:latin typeface="Segoe UI"/>
              </a:rPr>
              <a:t>snapshot features, in scope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94560" y="2542032"/>
            <a:ext cx="219456" cy="0"/>
          </a:xfrm>
          <a:prstGeom prst="line">
            <a:avLst/>
          </a:prstGeom>
          <a:ln w="22225">
            <a:solidFill>
              <a:srgbClr val="556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34255" y="2057400"/>
            <a:ext cx="1645920" cy="96012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 w="15875">
            <a:solidFill>
              <a:srgbClr val="55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407407" y="2121408"/>
            <a:ext cx="15087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7324D"/>
                </a:solidFill>
                <a:latin typeface="Segoe UI"/>
              </a:rPr>
              <a:t>Chunk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7" y="2487168"/>
            <a:ext cx="15087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D6B7A"/>
                </a:solidFill>
                <a:latin typeface="Segoe UI"/>
              </a:rPr>
              <a:t>1 enrolment = 1 case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87367" y="2542032"/>
            <a:ext cx="219456" cy="0"/>
          </a:xfrm>
          <a:prstGeom prst="line">
            <a:avLst/>
          </a:prstGeom>
          <a:ln w="22225">
            <a:solidFill>
              <a:srgbClr val="556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227063" y="2057400"/>
            <a:ext cx="1645920" cy="96012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 w="15875">
            <a:solidFill>
              <a:srgbClr val="55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300215" y="2121408"/>
            <a:ext cx="15087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7324D"/>
                </a:solidFill>
                <a:latin typeface="Segoe UI"/>
              </a:rPr>
              <a:t>Embed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215" y="2487168"/>
            <a:ext cx="15087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D6B7A"/>
                </a:solidFill>
                <a:latin typeface="Segoe UI"/>
              </a:rPr>
              <a:t>e5-small-v2 + behavioural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80175" y="2542032"/>
            <a:ext cx="219456" cy="0"/>
          </a:xfrm>
          <a:prstGeom prst="line">
            <a:avLst/>
          </a:prstGeom>
          <a:ln w="22225">
            <a:solidFill>
              <a:srgbClr val="556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119871" y="2057400"/>
            <a:ext cx="1645920" cy="96012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 w="15875">
            <a:solidFill>
              <a:srgbClr val="55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193023" y="2121408"/>
            <a:ext cx="15087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7324D"/>
                </a:solidFill>
                <a:latin typeface="Segoe UI"/>
              </a:rPr>
              <a:t>Index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023" y="2487168"/>
            <a:ext cx="15087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D6B7A"/>
                </a:solidFill>
                <a:latin typeface="Segoe UI"/>
              </a:rPr>
              <a:t>LanceDB + BM25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872983" y="2542032"/>
            <a:ext cx="219457" cy="0"/>
          </a:xfrm>
          <a:prstGeom prst="line">
            <a:avLst/>
          </a:prstGeom>
          <a:ln w="22225">
            <a:solidFill>
              <a:srgbClr val="556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012680" y="2057400"/>
            <a:ext cx="1645920" cy="96012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 w="15875">
            <a:solidFill>
              <a:srgbClr val="55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085832" y="2121408"/>
            <a:ext cx="15087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7324D"/>
                </a:solidFill>
                <a:latin typeface="Segoe UI"/>
              </a:rPr>
              <a:t>Train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85832" y="2487168"/>
            <a:ext cx="15087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D6B7A"/>
                </a:solidFill>
                <a:latin typeface="Segoe UI"/>
              </a:rPr>
              <a:t>XGBoost, calibrate, SHAP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65792" y="2542032"/>
            <a:ext cx="219456" cy="0"/>
          </a:xfrm>
          <a:prstGeom prst="line">
            <a:avLst/>
          </a:prstGeom>
          <a:ln w="22225">
            <a:solidFill>
              <a:srgbClr val="556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3291840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1F6F8B"/>
                </a:solidFill>
                <a:latin typeface="Segoe UI"/>
              </a:rPr>
              <a:t>ONLINE  ·  draft a support plan for one student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611880"/>
            <a:ext cx="1645920" cy="960120"/>
          </a:xfrm>
          <a:prstGeom prst="roundRect">
            <a:avLst>
              <a:gd name="adj" fmla="val 6000"/>
            </a:avLst>
          </a:prstGeom>
          <a:solidFill>
            <a:srgbClr val="EAF3F6"/>
          </a:solidFill>
          <a:ln w="15875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21792" y="3675887"/>
            <a:ext cx="15087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7324D"/>
                </a:solidFill>
                <a:latin typeface="Segoe UI"/>
              </a:rPr>
              <a:t>Console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4041648"/>
            <a:ext cx="15087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D6B7A"/>
                </a:solidFill>
                <a:latin typeface="Segoe UI"/>
              </a:rPr>
              <a:t>POST /api/jobs/analyze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441448" y="3611880"/>
            <a:ext cx="1645920" cy="960120"/>
          </a:xfrm>
          <a:prstGeom prst="roundRect">
            <a:avLst>
              <a:gd name="adj" fmla="val 6000"/>
            </a:avLst>
          </a:prstGeom>
          <a:solidFill>
            <a:srgbClr val="EAF3F6"/>
          </a:solidFill>
          <a:ln w="15875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2514600" y="3675887"/>
            <a:ext cx="15087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7324D"/>
                </a:solidFill>
                <a:latin typeface="Segoe UI"/>
              </a:rPr>
              <a:t>Validate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4041648"/>
            <a:ext cx="15087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D6B7A"/>
                </a:solidFill>
                <a:latin typeface="Segoe UI"/>
              </a:rPr>
              <a:t>schema, scope, auth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194560" y="4096512"/>
            <a:ext cx="219456" cy="0"/>
          </a:xfrm>
          <a:prstGeom prst="line">
            <a:avLst/>
          </a:prstGeom>
          <a:ln w="22225">
            <a:solidFill>
              <a:srgbClr val="1F6F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4334255" y="3611880"/>
            <a:ext cx="1645920" cy="960120"/>
          </a:xfrm>
          <a:prstGeom prst="roundRect">
            <a:avLst>
              <a:gd name="adj" fmla="val 6000"/>
            </a:avLst>
          </a:prstGeom>
          <a:solidFill>
            <a:srgbClr val="EAF3F6"/>
          </a:solidFill>
          <a:ln w="15875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407407" y="3675887"/>
            <a:ext cx="15087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7324D"/>
                </a:solidFill>
                <a:latin typeface="Segoe UI"/>
              </a:rPr>
              <a:t>Score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07407" y="4041648"/>
            <a:ext cx="15087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D6B7A"/>
                </a:solidFill>
                <a:latin typeface="Segoe UI"/>
              </a:rPr>
              <a:t>risk, outcome, drivers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087367" y="4096512"/>
            <a:ext cx="219456" cy="0"/>
          </a:xfrm>
          <a:prstGeom prst="line">
            <a:avLst/>
          </a:prstGeom>
          <a:ln w="22225">
            <a:solidFill>
              <a:srgbClr val="1F6F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6227063" y="3611880"/>
            <a:ext cx="1645920" cy="960120"/>
          </a:xfrm>
          <a:prstGeom prst="roundRect">
            <a:avLst>
              <a:gd name="adj" fmla="val 6000"/>
            </a:avLst>
          </a:prstGeom>
          <a:solidFill>
            <a:srgbClr val="EAF3F6"/>
          </a:solidFill>
          <a:ln w="15875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300215" y="3675887"/>
            <a:ext cx="15087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7324D"/>
                </a:solidFill>
                <a:latin typeface="Segoe UI"/>
              </a:rPr>
              <a:t>Retrieve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0215" y="4041648"/>
            <a:ext cx="15087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D6B7A"/>
                </a:solidFill>
                <a:latin typeface="Segoe UI"/>
              </a:rPr>
              <a:t>6 cases + outcome mix of 50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980175" y="4096512"/>
            <a:ext cx="219456" cy="0"/>
          </a:xfrm>
          <a:prstGeom prst="line">
            <a:avLst/>
          </a:prstGeom>
          <a:ln w="22225">
            <a:solidFill>
              <a:srgbClr val="1F6F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8119871" y="3611880"/>
            <a:ext cx="1645920" cy="960120"/>
          </a:xfrm>
          <a:prstGeom prst="roundRect">
            <a:avLst>
              <a:gd name="adj" fmla="val 6000"/>
            </a:avLst>
          </a:prstGeom>
          <a:solidFill>
            <a:srgbClr val="EAF3F6"/>
          </a:solidFill>
          <a:ln w="15875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193023" y="3675887"/>
            <a:ext cx="15087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7324D"/>
                </a:solidFill>
                <a:latin typeface="Segoe UI"/>
              </a:rPr>
              <a:t>Agents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93023" y="4041648"/>
            <a:ext cx="15087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D6B7A"/>
                </a:solidFill>
                <a:latin typeface="Segoe UI"/>
              </a:rPr>
              <a:t>LangGraph, critic, fallback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872983" y="4096512"/>
            <a:ext cx="219457" cy="0"/>
          </a:xfrm>
          <a:prstGeom prst="line">
            <a:avLst/>
          </a:prstGeom>
          <a:ln w="22225">
            <a:solidFill>
              <a:srgbClr val="1F6F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10012680" y="3611880"/>
            <a:ext cx="1645920" cy="960120"/>
          </a:xfrm>
          <a:prstGeom prst="roundRect">
            <a:avLst>
              <a:gd name="adj" fmla="val 6000"/>
            </a:avLst>
          </a:prstGeom>
          <a:solidFill>
            <a:srgbClr val="EAF3F6"/>
          </a:solidFill>
          <a:ln w="15875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10085832" y="3675887"/>
            <a:ext cx="15087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7324D"/>
                </a:solidFill>
                <a:latin typeface="Segoe UI"/>
              </a:rPr>
              <a:t>Plan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85832" y="4041648"/>
            <a:ext cx="15087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D6B7A"/>
                </a:solidFill>
                <a:latin typeface="Segoe UI"/>
              </a:rPr>
              <a:t>streamed, labelled, feedback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765792" y="4096512"/>
            <a:ext cx="219456" cy="0"/>
          </a:xfrm>
          <a:prstGeom prst="line">
            <a:avLst/>
          </a:prstGeom>
          <a:ln w="22225">
            <a:solidFill>
              <a:srgbClr val="1F6F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548640" y="4892040"/>
            <a:ext cx="11109960" cy="1325880"/>
          </a:xfrm>
          <a:prstGeom prst="roundRect">
            <a:avLst>
              <a:gd name="adj" fmla="val 6000"/>
            </a:avLst>
          </a:prstGeom>
          <a:solidFill>
            <a:srgbClr val="FDF5E6"/>
          </a:solidFill>
          <a:ln w="1587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B7791F"/>
                </a:solidFill>
                <a:latin typeface="Segoe UI"/>
              </a:rPr>
              <a:t>The leakage rule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240" y="5349240"/>
            <a:ext cx="1069848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17324D"/>
                </a:solidFill>
                <a:latin typeface="Segoe UI"/>
              </a:rPr>
              <a:t>Scoring every enrolment, including students who had already left, gives ROC-AUC </a:t>
            </a:r>
            <a:r>
              <a:rPr sz="1350" b="1">
                <a:solidFill>
                  <a:srgbClr val="17324D"/>
                </a:solidFill>
                <a:latin typeface="Segoe UI"/>
              </a:rPr>
              <a:t>0.749</a:t>
            </a:r>
            <a:r>
              <a:rPr sz="1350" b="0">
                <a:solidFill>
                  <a:srgbClr val="17324D"/>
                </a:solidFill>
                <a:latin typeface="Segoe UI"/>
              </a:rPr>
              <a:t>. Scoring only students still enrolled gives </a:t>
            </a:r>
            <a:r>
              <a:rPr sz="1350" b="1">
                <a:solidFill>
                  <a:srgbClr val="17324D"/>
                </a:solidFill>
                <a:latin typeface="Segoe UI"/>
              </a:rPr>
              <a:t>0.726</a:t>
            </a:r>
            <a:r>
              <a:rPr sz="1350" b="0">
                <a:solidFill>
                  <a:srgbClr val="17324D"/>
                </a:solidFill>
                <a:latin typeface="Segoe UI"/>
              </a:rPr>
              <a:t>: lower, but it is the number an advisor actually gets. `date_unregistration` defines scope only; it is never a feature.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1F6F8B"/>
                </a:solidFill>
                <a:latin typeface="Segoe U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7324D"/>
                </a:solidFill>
                <a:latin typeface="Segoe UI"/>
              </a:rPr>
              <a:t>Each choice was measured or justified against an alternative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46520"/>
            <a:ext cx="11109960" cy="0"/>
          </a:xfrm>
          <a:prstGeom prst="line">
            <a:avLst/>
          </a:prstGeom>
          <a:ln w="9525">
            <a:solidFill>
              <a:srgbClr val="D5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reeform 5"/>
          <p:cNvSpPr/>
          <p:nvPr/>
        </p:nvSpPr>
        <p:spPr>
          <a:xfrm>
            <a:off x="561213" y="6544818"/>
            <a:ext cx="176021" cy="100584"/>
          </a:xfrm>
          <a:custGeom>
            <a:avLst/>
            <a:gdLst/>
            <a:ahLst/>
            <a:cxnLst/>
            <a:rect l="l" t="t" r="r" b="b"/>
            <a:pathLst>
              <a:path w="176021" h="100584">
                <a:moveTo>
                  <a:pt x="0" y="46101"/>
                </a:moveTo>
                <a:lnTo>
                  <a:pt x="25146" y="37719"/>
                </a:lnTo>
                <a:lnTo>
                  <a:pt x="58674" y="100584"/>
                </a:lnTo>
                <a:lnTo>
                  <a:pt x="88011" y="71247"/>
                </a:lnTo>
                <a:lnTo>
                  <a:pt x="108966" y="79629"/>
                </a:lnTo>
                <a:lnTo>
                  <a:pt x="176021" y="0"/>
                </a:lnTo>
              </a:path>
            </a:pathLst>
          </a:custGeom>
          <a:noFill/>
          <a:ln w="1905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1213" y="6699885"/>
            <a:ext cx="176021" cy="0"/>
          </a:xfrm>
          <a:prstGeom prst="line">
            <a:avLst/>
          </a:prstGeom>
          <a:ln w="9525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iamond 7"/>
          <p:cNvSpPr/>
          <p:nvPr/>
        </p:nvSpPr>
        <p:spPr>
          <a:xfrm>
            <a:off x="593064" y="6618579"/>
            <a:ext cx="53644" cy="53644"/>
          </a:xfrm>
          <a:prstGeom prst="diamond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510528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5D6B7A"/>
                </a:solidFill>
                <a:latin typeface="Segoe UI"/>
              </a:rPr>
              <a:t>Uplift · Student Success 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10528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5D6B7A"/>
                </a:solidFill>
                <a:latin typeface="Segoe UI"/>
              </a:rPr>
              <a:t>7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280160"/>
          <a:ext cx="1110995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749039"/>
                <a:gridCol w="589788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Layer</a:t>
                      </a:r>
                    </a:p>
                  </a:txBody>
                  <a:tcPr marL="73152" marR="73152" marT="27432" marB="27432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Choice</a:t>
                      </a:r>
                    </a:p>
                  </a:txBody>
                  <a:tcPr marL="73152" marR="73152" marT="27432" marB="27432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Why</a:t>
                      </a:r>
                    </a:p>
                  </a:txBody>
                  <a:tcPr marL="73152" marR="73152" marT="27432" marB="27432">
                    <a:solidFill>
                      <a:srgbClr val="1732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7324D"/>
                          </a:solidFill>
                          <a:latin typeface="Segoe UI"/>
                        </a:rPr>
                        <a:t>LLM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7324D"/>
                          </a:solidFill>
                          <a:latin typeface="Segoe UI"/>
                        </a:rPr>
                        <a:t>Claude: claude-haiku-5-5 · claude-sonnet-5-5 · claude-opus-5-5 (judge)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7324D"/>
                          </a:solidFill>
                          <a:latin typeface="Segoe UI"/>
                        </a:rPr>
                        <a:t>Measured per task: small model parses as well; main model writes most faithfully; different judge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7324D"/>
                          </a:solidFill>
                          <a:latin typeface="Segoe UI"/>
                        </a:rPr>
                        <a:t>Embeddings</a:t>
                      </a:r>
                    </a:p>
                  </a:txBody>
                  <a:tcPr marL="73152" marR="73152" marT="27432" marB="2743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7324D"/>
                          </a:solidFill>
                          <a:latin typeface="Segoe UI"/>
                        </a:rPr>
                        <a:t>intfloat/e5-small-v2</a:t>
                      </a:r>
                    </a:p>
                  </a:txBody>
                  <a:tcPr marL="73152" marR="73152" marT="27432" marB="2743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7324D"/>
                          </a:solidFill>
                          <a:latin typeface="Segoe UI"/>
                        </a:rPr>
                        <a:t>Best of five models on precedent quality at MiniLM latency</a:t>
                      </a:r>
                    </a:p>
                  </a:txBody>
                  <a:tcPr marL="73152" marR="73152" marT="27432" marB="27432"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7324D"/>
                          </a:solidFill>
                          <a:latin typeface="Segoe UI"/>
                        </a:rPr>
                        <a:t>Vector DB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7324D"/>
                          </a:solidFill>
                          <a:latin typeface="Segoe UI"/>
                        </a:rPr>
                        <a:t>LanceDB (embedded)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7324D"/>
                          </a:solidFill>
                          <a:latin typeface="Segoe UI"/>
                        </a:rPr>
                        <a:t>No server; metadata pre-filter; exact kNN; parity with brute force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7324D"/>
                          </a:solidFill>
                          <a:latin typeface="Segoe UI"/>
                        </a:rPr>
                        <a:t>Agents</a:t>
                      </a:r>
                    </a:p>
                  </a:txBody>
                  <a:tcPr marL="73152" marR="73152" marT="27432" marB="2743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7324D"/>
                          </a:solidFill>
                          <a:latin typeface="Segoe UI"/>
                        </a:rPr>
                        <a:t>LangGraph state graph</a:t>
                      </a:r>
                    </a:p>
                  </a:txBody>
                  <a:tcPr marL="73152" marR="73152" marT="27432" marB="2743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7324D"/>
                          </a:solidFill>
                          <a:latin typeface="Segoe UI"/>
                        </a:rPr>
                        <a:t>Explicit router, critic and revision; parity with plain Python</a:t>
                      </a:r>
                    </a:p>
                  </a:txBody>
                  <a:tcPr marL="73152" marR="73152" marT="27432" marB="27432"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7324D"/>
                          </a:solidFill>
                          <a:latin typeface="Segoe UI"/>
                        </a:rPr>
                        <a:t>Prediction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7324D"/>
                          </a:solidFill>
                          <a:latin typeface="Segoe UI"/>
                        </a:rPr>
                        <a:t>XGBoost + calibration + TreeSHAP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7324D"/>
                          </a:solidFill>
                          <a:latin typeface="Segoe UI"/>
                        </a:rPr>
                        <a:t>ROC-AUC 0.726 vs 0.703 logistic; exact explanations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7324D"/>
                          </a:solidFill>
                          <a:latin typeface="Segoe UI"/>
                        </a:rPr>
                        <a:t>Retrieval</a:t>
                      </a:r>
                    </a:p>
                  </a:txBody>
                  <a:tcPr marL="73152" marR="73152" marT="27432" marB="2743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7324D"/>
                          </a:solidFill>
                          <a:latin typeface="Segoe UI"/>
                        </a:rPr>
                        <a:t>BM25 + behavioural kNN + dense, RRF</a:t>
                      </a:r>
                    </a:p>
                  </a:txBody>
                  <a:tcPr marL="73152" marR="73152" marT="27432" marB="2743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7324D"/>
                          </a:solidFill>
                          <a:latin typeface="Segoe UI"/>
                        </a:rPr>
                        <a:t>Numbers need numeric similarity; text needs keywords and meaning</a:t>
                      </a:r>
                    </a:p>
                  </a:txBody>
                  <a:tcPr marL="73152" marR="73152" marT="27432" marB="27432"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7324D"/>
                          </a:solidFill>
                          <a:latin typeface="Segoe UI"/>
                        </a:rPr>
                        <a:t>API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7324D"/>
                          </a:solidFill>
                          <a:latin typeface="Segoe UI"/>
                        </a:rPr>
                        <a:t>FastAPI + Uvicorn, pydantic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7324D"/>
                          </a:solidFill>
                          <a:latin typeface="Segoe UI"/>
                        </a:rPr>
                        <a:t>Typed validation, OpenAPI docs, streaming, background jobs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7324D"/>
                          </a:solidFill>
                          <a:latin typeface="Segoe UI"/>
                        </a:rPr>
                        <a:t>UI</a:t>
                      </a:r>
                    </a:p>
                  </a:txBody>
                  <a:tcPr marL="73152" marR="73152" marT="27432" marB="2743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7324D"/>
                          </a:solidFill>
                          <a:latin typeface="Segoe UI"/>
                        </a:rPr>
                        <a:t>React 19 + TypeScript (Vite)</a:t>
                      </a:r>
                    </a:p>
                  </a:txBody>
                  <a:tcPr marL="73152" marR="73152" marT="27432" marB="2743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7324D"/>
                          </a:solidFill>
                          <a:latin typeface="Segoe UI"/>
                        </a:rPr>
                        <a:t>Beyond Streamlit: URLs, virtual tables, streaming; served by FastAPI</a:t>
                      </a:r>
                    </a:p>
                  </a:txBody>
                  <a:tcPr marL="73152" marR="73152" marT="27432" marB="27432"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7324D"/>
                          </a:solidFill>
                          <a:latin typeface="Segoe UI"/>
                        </a:rPr>
                        <a:t>Evaluation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7324D"/>
                          </a:solidFill>
                          <a:latin typeface="Segoe UI"/>
                        </a:rPr>
                        <a:t>DeepEval · RAGAS · LLM judge · pytest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7324D"/>
                          </a:solidFill>
                          <a:latin typeface="Segoe UI"/>
                        </a:rPr>
                        <a:t>Each layer catches a different failure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1F6F8B"/>
                </a:solidFill>
                <a:latin typeface="Segoe UI"/>
              </a:rPr>
              <a:t>AGENT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7324D"/>
                </a:solidFill>
                <a:latin typeface="Segoe UI"/>
              </a:rPr>
              <a:t>Agents on a shared state; code checks every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D6B7A"/>
                </a:solidFill>
                <a:latin typeface="Segoe UI"/>
              </a:rPr>
              <a:t>Agents cite numbered evidence; the critic rejects unknown IDs, ineligible actions, ungrounded numbers and unsafe words.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109960" cy="0"/>
          </a:xfrm>
          <a:prstGeom prst="line">
            <a:avLst/>
          </a:prstGeom>
          <a:ln w="9525">
            <a:solidFill>
              <a:srgbClr val="D5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 6"/>
          <p:cNvSpPr/>
          <p:nvPr/>
        </p:nvSpPr>
        <p:spPr>
          <a:xfrm>
            <a:off x="561213" y="6544818"/>
            <a:ext cx="176021" cy="100584"/>
          </a:xfrm>
          <a:custGeom>
            <a:avLst/>
            <a:gdLst/>
            <a:ahLst/>
            <a:cxnLst/>
            <a:rect l="l" t="t" r="r" b="b"/>
            <a:pathLst>
              <a:path w="176021" h="100584">
                <a:moveTo>
                  <a:pt x="0" y="46101"/>
                </a:moveTo>
                <a:lnTo>
                  <a:pt x="25146" y="37719"/>
                </a:lnTo>
                <a:lnTo>
                  <a:pt x="58674" y="100584"/>
                </a:lnTo>
                <a:lnTo>
                  <a:pt x="88011" y="71247"/>
                </a:lnTo>
                <a:lnTo>
                  <a:pt x="108966" y="79629"/>
                </a:lnTo>
                <a:lnTo>
                  <a:pt x="176021" y="0"/>
                </a:lnTo>
              </a:path>
            </a:pathLst>
          </a:custGeom>
          <a:noFill/>
          <a:ln w="1905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61213" y="6699885"/>
            <a:ext cx="176021" cy="0"/>
          </a:xfrm>
          <a:prstGeom prst="line">
            <a:avLst/>
          </a:prstGeom>
          <a:ln w="9525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iamond 8"/>
          <p:cNvSpPr/>
          <p:nvPr/>
        </p:nvSpPr>
        <p:spPr>
          <a:xfrm>
            <a:off x="593064" y="6618579"/>
            <a:ext cx="53644" cy="53644"/>
          </a:xfrm>
          <a:prstGeom prst="diamond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510528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5D6B7A"/>
                </a:solidFill>
                <a:latin typeface="Segoe UI"/>
              </a:rPr>
              <a:t>Uplift · Student Success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10528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5D6B7A"/>
                </a:solidFill>
                <a:latin typeface="Segoe UI"/>
              </a:rPr>
              <a:t>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1417320" cy="1280160"/>
          </a:xfrm>
          <a:prstGeom prst="roundRect">
            <a:avLst>
              <a:gd name="adj" fmla="val 6000"/>
            </a:avLst>
          </a:prstGeom>
          <a:solidFill>
            <a:srgbClr val="E9F4EE"/>
          </a:solidFill>
          <a:ln w="19050">
            <a:solidFill>
              <a:srgbClr val="2D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103120"/>
            <a:ext cx="13258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7324D"/>
                </a:solidFill>
                <a:latin typeface="Segoe UI"/>
              </a:rP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514600"/>
            <a:ext cx="132588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>
                <a:solidFill>
                  <a:srgbClr val="5D6B7A"/>
                </a:solidFill>
                <a:latin typeface="Segoe UI"/>
              </a:rPr>
              <a:t>scores · drivers
6 similar cases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67128" y="2011680"/>
            <a:ext cx="1417320" cy="1280160"/>
          </a:xfrm>
          <a:prstGeom prst="roundRect">
            <a:avLst>
              <a:gd name="adj" fmla="val 6000"/>
            </a:avLst>
          </a:prstGeom>
          <a:solidFill>
            <a:srgbClr val="F2EDF9"/>
          </a:solidFill>
          <a:ln w="19050">
            <a:solidFill>
              <a:srgbClr val="6B4A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212848" y="2103120"/>
            <a:ext cx="13258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7324D"/>
                </a:solidFill>
                <a:latin typeface="Segoe UI"/>
              </a:rPr>
              <a:t>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2848" y="2514600"/>
            <a:ext cx="132588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>
                <a:solidFill>
                  <a:srgbClr val="5D6B7A"/>
                </a:solidFill>
                <a:latin typeface="Segoe UI"/>
              </a:rPr>
              <a:t>strengths, concerns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84248" y="2651760"/>
            <a:ext cx="164592" cy="0"/>
          </a:xfrm>
          <a:prstGeom prst="line">
            <a:avLst/>
          </a:prstGeom>
          <a:ln w="22225">
            <a:solidFill>
              <a:srgbClr val="1F6F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785615" y="2011680"/>
            <a:ext cx="1417320" cy="1280160"/>
          </a:xfrm>
          <a:prstGeom prst="roundRect">
            <a:avLst>
              <a:gd name="adj" fmla="val 6000"/>
            </a:avLst>
          </a:prstGeom>
          <a:solidFill>
            <a:srgbClr val="F2EDF9"/>
          </a:solidFill>
          <a:ln w="19050">
            <a:solidFill>
              <a:srgbClr val="6B4A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831335" y="2103120"/>
            <a:ext cx="13258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7324D"/>
                </a:solidFill>
                <a:latin typeface="Segoe UI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31335" y="2514600"/>
            <a:ext cx="132588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>
                <a:solidFill>
                  <a:srgbClr val="5D6B7A"/>
                </a:solidFill>
                <a:latin typeface="Segoe UI"/>
              </a:rPr>
              <a:t>risk, precedents,
uncertainty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602735" y="2651760"/>
            <a:ext cx="164593" cy="0"/>
          </a:xfrm>
          <a:prstGeom prst="line">
            <a:avLst/>
          </a:prstGeom>
          <a:ln w="22225">
            <a:solidFill>
              <a:srgbClr val="1F6F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404104" y="2011680"/>
            <a:ext cx="1417320" cy="128016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 w="19050">
            <a:solidFill>
              <a:srgbClr val="55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449824" y="2103120"/>
            <a:ext cx="13258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7324D"/>
                </a:solidFill>
                <a:latin typeface="Segoe UI"/>
              </a:rPr>
              <a:t>Router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9824" y="2514600"/>
            <a:ext cx="132588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>
                <a:solidFill>
                  <a:srgbClr val="5D6B7A"/>
                </a:solidFill>
                <a:latin typeface="Segoe UI"/>
              </a:rPr>
              <a:t>intervene or
monitor (rule)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21224" y="2651760"/>
            <a:ext cx="164592" cy="0"/>
          </a:xfrm>
          <a:prstGeom prst="line">
            <a:avLst/>
          </a:prstGeom>
          <a:ln w="22225">
            <a:solidFill>
              <a:srgbClr val="1F6F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022592" y="2011680"/>
            <a:ext cx="1417320" cy="1280160"/>
          </a:xfrm>
          <a:prstGeom prst="roundRect">
            <a:avLst>
              <a:gd name="adj" fmla="val 6000"/>
            </a:avLst>
          </a:prstGeom>
          <a:solidFill>
            <a:srgbClr val="F2EDF9"/>
          </a:solidFill>
          <a:ln w="19050">
            <a:solidFill>
              <a:srgbClr val="6B4A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068312" y="2103120"/>
            <a:ext cx="13258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7324D"/>
                </a:solidFill>
                <a:latin typeface="Segoe UI"/>
              </a:rPr>
              <a:t>Intervention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8312" y="2514600"/>
            <a:ext cx="132588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>
                <a:solidFill>
                  <a:srgbClr val="5D6B7A"/>
                </a:solidFill>
                <a:latin typeface="Segoe UI"/>
              </a:rPr>
              <a:t>2-4 eligible actions
outreach draft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39712" y="2651760"/>
            <a:ext cx="164592" cy="0"/>
          </a:xfrm>
          <a:prstGeom prst="line">
            <a:avLst/>
          </a:prstGeom>
          <a:ln w="22225">
            <a:solidFill>
              <a:srgbClr val="1F6F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641080" y="2011680"/>
            <a:ext cx="1417320" cy="128016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 w="19050">
            <a:solidFill>
              <a:srgbClr val="55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686800" y="2103120"/>
            <a:ext cx="13258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7324D"/>
                </a:solidFill>
                <a:latin typeface="Segoe UI"/>
              </a:rPr>
              <a:t>Critic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2514600"/>
            <a:ext cx="132588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>
                <a:solidFill>
                  <a:srgbClr val="5D6B7A"/>
                </a:solidFill>
                <a:latin typeface="Segoe UI"/>
              </a:rPr>
              <a:t>IDs, numbers,
terms (code)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58200" y="2651760"/>
            <a:ext cx="164592" cy="0"/>
          </a:xfrm>
          <a:prstGeom prst="line">
            <a:avLst/>
          </a:prstGeom>
          <a:ln w="22225">
            <a:solidFill>
              <a:srgbClr val="1F6F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259568" y="2011680"/>
            <a:ext cx="1417320" cy="1280160"/>
          </a:xfrm>
          <a:prstGeom prst="roundRect">
            <a:avLst>
              <a:gd name="adj" fmla="val 6000"/>
            </a:avLst>
          </a:prstGeom>
          <a:solidFill>
            <a:srgbClr val="F2EDF9"/>
          </a:solidFill>
          <a:ln w="19050">
            <a:solidFill>
              <a:srgbClr val="6B4A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0305288" y="2103120"/>
            <a:ext cx="13258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7324D"/>
                </a:solidFill>
                <a:latin typeface="Segoe UI"/>
              </a:rPr>
              <a:t>Synthesis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05288" y="2514600"/>
            <a:ext cx="132588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>
                <a:solidFill>
                  <a:srgbClr val="5D6B7A"/>
                </a:solidFill>
                <a:latin typeface="Segoe UI"/>
              </a:rPr>
              <a:t>what happened
next (RAG)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076688" y="2651760"/>
            <a:ext cx="164592" cy="0"/>
          </a:xfrm>
          <a:prstGeom prst="line">
            <a:avLst/>
          </a:prstGeom>
          <a:ln w="22225">
            <a:solidFill>
              <a:srgbClr val="1F6F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14031" y="3520440"/>
            <a:ext cx="2788920" cy="502920"/>
          </a:xfrm>
          <a:prstGeom prst="roundRect">
            <a:avLst>
              <a:gd name="adj" fmla="val 6000"/>
            </a:avLst>
          </a:prstGeom>
          <a:solidFill>
            <a:srgbClr val="FDF5E6"/>
          </a:solidFill>
          <a:ln w="1587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159752" y="3566160"/>
            <a:ext cx="26974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B7791F"/>
                </a:solidFill>
                <a:latin typeface="Segoe UI"/>
              </a:rPr>
              <a:t>violations → revise once, else fallback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58384" y="4206240"/>
            <a:ext cx="4023360" cy="50292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 w="12700">
            <a:solidFill>
              <a:srgbClr val="55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404104" y="4251960"/>
            <a:ext cx="39319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5606E"/>
                </a:solidFill>
                <a:latin typeface="Segoe UI"/>
              </a:rPr>
              <a:t>monitor / failed checks → deterministic planner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160520"/>
            <a:ext cx="429768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17324D"/>
                </a:solidFill>
                <a:latin typeface="Segoe UI"/>
              </a:rPr>
              <a:t>Purple</a:t>
            </a:r>
            <a:r>
              <a:rPr sz="1250" b="0">
                <a:solidFill>
                  <a:srgbClr val="17324D"/>
                </a:solidFill>
                <a:latin typeface="Segoe UI"/>
              </a:rPr>
              <a:t> = Claude drafts (structured JSON output)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7324D"/>
                </a:solidFill>
                <a:latin typeface="Segoe UI"/>
              </a:rPr>
              <a:t>Grey</a:t>
            </a:r>
            <a:r>
              <a:rPr sz="1250" b="0">
                <a:solidFill>
                  <a:srgbClr val="17324D"/>
                </a:solidFill>
                <a:latin typeface="Segoe UI"/>
              </a:rPr>
              <a:t> = code only, deterministic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7324D"/>
                </a:solidFill>
                <a:latin typeface="Segoe UI"/>
              </a:rPr>
              <a:t>Green</a:t>
            </a:r>
            <a:r>
              <a:rPr sz="1250" b="0">
                <a:solidFill>
                  <a:srgbClr val="17324D"/>
                </a:solidFill>
                <a:latin typeface="Segoe UI"/>
              </a:rPr>
              <a:t> = ML models and hybrid retriever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17324D"/>
                </a:solidFill>
                <a:latin typeface="Segoe UI"/>
              </a:rPr>
              <a:t>Every LLM step has a computed fallback: the workflow runs with the LLM switched off.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4160520"/>
            <a:ext cx="1965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2D7A5A"/>
                </a:solidFill>
                <a:latin typeface="Segoe UI"/>
              </a:rPr>
              <a:t>100%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4727448"/>
            <a:ext cx="196596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50" b="0">
                <a:solidFill>
                  <a:srgbClr val="5D6B7A"/>
                </a:solidFill>
                <a:latin typeface="Segoe UI"/>
              </a:rPr>
              <a:t>plans pass every guardrail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5257800"/>
            <a:ext cx="1965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6B4AA0"/>
                </a:solidFill>
                <a:latin typeface="Segoe UI"/>
              </a:rPr>
              <a:t>96%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5824728"/>
            <a:ext cx="196596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50" b="0">
                <a:solidFill>
                  <a:srgbClr val="5D6B7A"/>
                </a:solidFill>
                <a:latin typeface="Segoe UI"/>
              </a:rPr>
              <a:t>judge pass rate (claude-opus-5-5)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1F6F8B"/>
                </a:solidFill>
                <a:latin typeface="Segoe UI"/>
              </a:rPr>
              <a:t>HYBRID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7324D"/>
                </a:solidFill>
                <a:latin typeface="Segoe UI"/>
              </a:rPr>
              <a:t>Three channels, fused with RRF, filtered in LanceDB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D6B7A"/>
                </a:solidFill>
                <a:latin typeface="Segoe UI"/>
              </a:rPr>
              <a:t>Earlier presentations only, never the student's own rows; one document per enrolment; numbers banded, not embedded.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109960" cy="0"/>
          </a:xfrm>
          <a:prstGeom prst="line">
            <a:avLst/>
          </a:prstGeom>
          <a:ln w="9525">
            <a:solidFill>
              <a:srgbClr val="D5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 6"/>
          <p:cNvSpPr/>
          <p:nvPr/>
        </p:nvSpPr>
        <p:spPr>
          <a:xfrm>
            <a:off x="561213" y="6544818"/>
            <a:ext cx="176021" cy="100584"/>
          </a:xfrm>
          <a:custGeom>
            <a:avLst/>
            <a:gdLst/>
            <a:ahLst/>
            <a:cxnLst/>
            <a:rect l="l" t="t" r="r" b="b"/>
            <a:pathLst>
              <a:path w="176021" h="100584">
                <a:moveTo>
                  <a:pt x="0" y="46101"/>
                </a:moveTo>
                <a:lnTo>
                  <a:pt x="25146" y="37719"/>
                </a:lnTo>
                <a:lnTo>
                  <a:pt x="58674" y="100584"/>
                </a:lnTo>
                <a:lnTo>
                  <a:pt x="88011" y="71247"/>
                </a:lnTo>
                <a:lnTo>
                  <a:pt x="108966" y="79629"/>
                </a:lnTo>
                <a:lnTo>
                  <a:pt x="176021" y="0"/>
                </a:lnTo>
              </a:path>
            </a:pathLst>
          </a:custGeom>
          <a:noFill/>
          <a:ln w="1905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61213" y="6699885"/>
            <a:ext cx="176021" cy="0"/>
          </a:xfrm>
          <a:prstGeom prst="line">
            <a:avLst/>
          </a:prstGeom>
          <a:ln w="9525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iamond 8"/>
          <p:cNvSpPr/>
          <p:nvPr/>
        </p:nvSpPr>
        <p:spPr>
          <a:xfrm>
            <a:off x="593064" y="6618579"/>
            <a:ext cx="53644" cy="53644"/>
          </a:xfrm>
          <a:prstGeom prst="diamond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510528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5D6B7A"/>
                </a:solidFill>
                <a:latin typeface="Segoe UI"/>
              </a:rPr>
              <a:t>Uplift · Student Success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10528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5D6B7A"/>
                </a:solidFill>
                <a:latin typeface="Segoe UI"/>
              </a:rPr>
              <a:t>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783080"/>
            <a:ext cx="393192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D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1837943"/>
            <a:ext cx="3657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7324D"/>
                </a:solidFill>
                <a:latin typeface="Segoe UI"/>
              </a:rPr>
              <a:t>Behavioural kNN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194560"/>
            <a:ext cx="3657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B7A"/>
                </a:solidFill>
                <a:latin typeface="Segoe UI"/>
              </a:rPr>
              <a:t>snapshot features weighted by the model's attributions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80560" y="2203704"/>
            <a:ext cx="411480" cy="603504"/>
          </a:xfrm>
          <a:prstGeom prst="line">
            <a:avLst/>
          </a:prstGeom>
          <a:ln w="22225">
            <a:solidFill>
              <a:srgbClr val="2D7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8640" y="2770632"/>
            <a:ext cx="393192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2825496"/>
            <a:ext cx="3657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7324D"/>
                </a:solidFill>
                <a:latin typeface="Segoe UI"/>
              </a:rPr>
              <a:t>BM25 keywords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182112"/>
            <a:ext cx="3657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B7A"/>
                </a:solidFill>
                <a:latin typeface="Segoe UI"/>
              </a:rPr>
              <a:t>descriptor tokens: missed_most, engagement_declining ...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4480560" y="2807208"/>
            <a:ext cx="411480" cy="384048"/>
          </a:xfrm>
          <a:prstGeom prst="line">
            <a:avLst/>
          </a:prstGeom>
          <a:ln w="22225">
            <a:solidFill>
              <a:srgbClr val="1F6F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8640" y="3758184"/>
            <a:ext cx="393192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4A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5800" y="3813048"/>
            <a:ext cx="3657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7324D"/>
                </a:solidFill>
                <a:latin typeface="Segoe UI"/>
              </a:rPr>
              <a:t>Dense (e5-small-v2)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169664"/>
            <a:ext cx="3657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B7A"/>
                </a:solidFill>
                <a:latin typeface="Segoe UI"/>
              </a:rPr>
              <a:t>narratives for plain-English search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4480560" y="2807208"/>
            <a:ext cx="411480" cy="1371600"/>
          </a:xfrm>
          <a:prstGeom prst="line">
            <a:avLst/>
          </a:prstGeom>
          <a:ln w="22225">
            <a:solidFill>
              <a:srgbClr val="6B4A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919472" y="2395728"/>
            <a:ext cx="1188720" cy="822960"/>
          </a:xfrm>
          <a:prstGeom prst="roundRect">
            <a:avLst>
              <a:gd name="adj" fmla="val 6000"/>
            </a:avLst>
          </a:prstGeom>
          <a:solidFill>
            <a:srgbClr val="EAF3F6"/>
          </a:solidFill>
          <a:ln w="1905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937760" y="2468880"/>
            <a:ext cx="1152144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7324D"/>
                </a:solidFill>
                <a:latin typeface="Segoe UI"/>
              </a:rPr>
              <a:t>RRF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D6B7A"/>
                </a:solidFill>
                <a:latin typeface="Segoe UI"/>
              </a:rPr>
              <a:t>fusion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846320"/>
            <a:ext cx="566928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1F6F8B"/>
                </a:solidFill>
                <a:latin typeface="Segoe UI"/>
              </a:rPr>
              <a:t>•  </a:t>
            </a:r>
            <a:r>
              <a:rPr sz="1250" b="0">
                <a:solidFill>
                  <a:srgbClr val="17324D"/>
                </a:solidFill>
                <a:latin typeface="Segoe UI"/>
              </a:rPr>
              <a:t>Metadata filters: course, region, education, age band, credits, previous attempts, outcome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F6F8B"/>
                </a:solidFill>
                <a:latin typeface="Segoe UI"/>
              </a:rPr>
              <a:t>•  </a:t>
            </a:r>
            <a:r>
              <a:rPr sz="1250" b="0">
                <a:solidFill>
                  <a:srgbClr val="17324D"/>
                </a:solidFill>
                <a:latin typeface="Segoe UI"/>
              </a:rPr>
              <a:t>Plain English understood as filters + behaviours (Claude Haiku, rule fallback)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F6F8B"/>
                </a:solidFill>
                <a:latin typeface="Segoe UI"/>
              </a:rPr>
              <a:t>•  </a:t>
            </a:r>
            <a:r>
              <a:rPr sz="1250" b="0">
                <a:solidFill>
                  <a:srgbClr val="17324D"/>
                </a:solidFill>
                <a:latin typeface="Segoe UI"/>
              </a:rPr>
              <a:t>Context: 6 closest stories; outcome mix of the 50 nearest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6400800" y="1691640"/>
          <a:ext cx="5257800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400800" y="4983480"/>
            <a:ext cx="5257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150" b="0">
                <a:solidFill>
                  <a:srgbClr val="5D6B7A"/>
                </a:solidFill>
                <a:latin typeface="Segoe UI"/>
              </a:rPr>
              <a:t>Do the retrieved students' real outcomes predict this student's? 600 test students vs earlier cohorts (not circular).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486400"/>
            <a:ext cx="521208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1F6F8B"/>
                </a:solidFill>
                <a:latin typeface="Segoe UI"/>
              </a:rPr>
              <a:t>0.862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6053328"/>
            <a:ext cx="521208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50" b="0">
                <a:solidFill>
                  <a:srgbClr val="5D6B7A"/>
                </a:solidFill>
                <a:latin typeface="Segoe UI"/>
              </a:rPr>
              <a:t>precision@10, plain-English case search (AI parser)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1F6F8B"/>
                </a:solidFill>
                <a:latin typeface="Segoe UI"/>
              </a:rPr>
              <a:t>PREDICTION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7324D"/>
                </a:solidFill>
                <a:latin typeface="Segoe UI"/>
              </a:rPr>
              <a:t>Calibrated risk that holds on a later, untouched cohort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D6B7A"/>
                </a:solidFill>
                <a:latin typeface="Segoe UI"/>
              </a:rPr>
              <a:t>Trained on 2013B + 2013J, tuned on 2014B, tested once on 2014J.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109960" cy="0"/>
          </a:xfrm>
          <a:prstGeom prst="line">
            <a:avLst/>
          </a:prstGeom>
          <a:ln w="9525">
            <a:solidFill>
              <a:srgbClr val="D5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 6"/>
          <p:cNvSpPr/>
          <p:nvPr/>
        </p:nvSpPr>
        <p:spPr>
          <a:xfrm>
            <a:off x="561213" y="6544818"/>
            <a:ext cx="176021" cy="100584"/>
          </a:xfrm>
          <a:custGeom>
            <a:avLst/>
            <a:gdLst/>
            <a:ahLst/>
            <a:cxnLst/>
            <a:rect l="l" t="t" r="r" b="b"/>
            <a:pathLst>
              <a:path w="176021" h="100584">
                <a:moveTo>
                  <a:pt x="0" y="46101"/>
                </a:moveTo>
                <a:lnTo>
                  <a:pt x="25146" y="37719"/>
                </a:lnTo>
                <a:lnTo>
                  <a:pt x="58674" y="100584"/>
                </a:lnTo>
                <a:lnTo>
                  <a:pt x="88011" y="71247"/>
                </a:lnTo>
                <a:lnTo>
                  <a:pt x="108966" y="79629"/>
                </a:lnTo>
                <a:lnTo>
                  <a:pt x="176021" y="0"/>
                </a:lnTo>
              </a:path>
            </a:pathLst>
          </a:custGeom>
          <a:noFill/>
          <a:ln w="1905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61213" y="6699885"/>
            <a:ext cx="176021" cy="0"/>
          </a:xfrm>
          <a:prstGeom prst="line">
            <a:avLst/>
          </a:prstGeom>
          <a:ln w="9525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iamond 8"/>
          <p:cNvSpPr/>
          <p:nvPr/>
        </p:nvSpPr>
        <p:spPr>
          <a:xfrm>
            <a:off x="593064" y="6618579"/>
            <a:ext cx="53644" cy="53644"/>
          </a:xfrm>
          <a:prstGeom prst="diamond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510528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5D6B7A"/>
                </a:solidFill>
                <a:latin typeface="Segoe UI"/>
              </a:rPr>
              <a:t>Uplift · Student Success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10528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5D6B7A"/>
                </a:solidFill>
                <a:latin typeface="Segoe UI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26517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7324D"/>
                </a:solidFill>
                <a:latin typeface="Segoe UI"/>
              </a:rPr>
              <a:t>0.726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50008"/>
            <a:ext cx="265176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50" b="0">
                <a:solidFill>
                  <a:srgbClr val="5D6B7A"/>
                </a:solidFill>
                <a:latin typeface="Segoe UI"/>
              </a:rPr>
              <a:t>ROC-AUC at week 15 (95% CI 0.708 to 0.740)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26517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55606E"/>
                </a:solidFill>
                <a:latin typeface="Segoe UI"/>
              </a:rPr>
              <a:t>0.703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38728"/>
            <a:ext cx="265176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50" b="0">
                <a:solidFill>
                  <a:srgbClr val="5D6B7A"/>
                </a:solidFill>
                <a:latin typeface="Segoe UI"/>
              </a:rPr>
              <a:t>logistic regression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783080"/>
            <a:ext cx="26517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F6F8B"/>
                </a:solidFill>
                <a:latin typeface="Segoe UI"/>
              </a:rPr>
              <a:t>0.009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350008"/>
            <a:ext cx="265176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50" b="0">
                <a:solidFill>
                  <a:srgbClr val="5D6B7A"/>
                </a:solidFill>
                <a:latin typeface="Segoe UI"/>
              </a:rPr>
              <a:t>calibration error: a 20% risk means about 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971800"/>
            <a:ext cx="26517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F6F8B"/>
                </a:solidFill>
                <a:latin typeface="Segoe UI"/>
              </a:rPr>
              <a:t>0.263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538728"/>
            <a:ext cx="265176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50" b="0">
                <a:solidFill>
                  <a:srgbClr val="5D6B7A"/>
                </a:solidFill>
                <a:latin typeface="Segoe UI"/>
              </a:rPr>
              <a:t>PR-AUC vs base rate 0.113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4251960"/>
          <a:ext cx="53949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371600"/>
                <a:gridCol w="1645920"/>
                <a:gridCol w="1371600"/>
              </a:tblGrid>
              <a:tr h="329184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Tier</a:t>
                      </a:r>
                    </a:p>
                  </a:txBody>
                  <a:tcPr marL="73152" marR="73152" marT="27432" marB="27432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Share of students</a:t>
                      </a:r>
                    </a:p>
                  </a:txBody>
                  <a:tcPr marL="73152" marR="73152" marT="27432" marB="27432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Observed withdrawal rate</a:t>
                      </a:r>
                    </a:p>
                  </a:txBody>
                  <a:tcPr marL="73152" marR="73152" marT="27432" marB="27432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Share of withdrawals</a:t>
                      </a:r>
                    </a:p>
                  </a:txBody>
                  <a:tcPr marL="73152" marR="73152" marT="27432" marB="27432">
                    <a:solidFill>
                      <a:srgbClr val="17324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7324D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7324D"/>
                          </a:solidFill>
                          <a:latin typeface="Segoe UI"/>
                        </a:rPr>
                        <a:t>24%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7324D"/>
                          </a:solidFill>
                          <a:latin typeface="Segoe UI"/>
                        </a:rPr>
                        <a:t>23.6%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7324D"/>
                          </a:solidFill>
                          <a:latin typeface="Segoe UI"/>
                        </a:rPr>
                        <a:t>50%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7324D"/>
                          </a:solidFill>
                          <a:latin typeface="Segoe UI"/>
                        </a:rPr>
                        <a:t>Medium</a:t>
                      </a:r>
                    </a:p>
                  </a:txBody>
                  <a:tcPr marL="73152" marR="73152" marT="27432" marB="2743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7324D"/>
                          </a:solidFill>
                          <a:latin typeface="Segoe UI"/>
                        </a:rPr>
                        <a:t>28%</a:t>
                      </a:r>
                    </a:p>
                  </a:txBody>
                  <a:tcPr marL="73152" marR="73152" marT="27432" marB="2743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7324D"/>
                          </a:solidFill>
                          <a:latin typeface="Segoe UI"/>
                        </a:rPr>
                        <a:t>11.7%</a:t>
                      </a:r>
                    </a:p>
                  </a:txBody>
                  <a:tcPr marL="73152" marR="73152" marT="27432" marB="2743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7324D"/>
                          </a:solidFill>
                          <a:latin typeface="Segoe UI"/>
                        </a:rPr>
                        <a:t>29%</a:t>
                      </a:r>
                    </a:p>
                  </a:txBody>
                  <a:tcPr marL="73152" marR="73152" marT="27432" marB="27432">
                    <a:solidFill>
                      <a:srgbClr val="F3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7324D"/>
                          </a:solidFill>
                          <a:latin typeface="Segoe UI"/>
                        </a:rPr>
                        <a:t>Low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7324D"/>
                          </a:solidFill>
                          <a:latin typeface="Segoe UI"/>
                        </a:rPr>
                        <a:t>48%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7324D"/>
                          </a:solidFill>
                          <a:latin typeface="Segoe UI"/>
                        </a:rPr>
                        <a:t>4.9%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7324D"/>
                          </a:solidFill>
                          <a:latin typeface="Segoe UI"/>
                        </a:rPr>
                        <a:t>21%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6217920" y="1691640"/>
          <a:ext cx="5440680" cy="3566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217920" y="5303520"/>
            <a:ext cx="544068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150" b="0">
                <a:solidFill>
                  <a:srgbClr val="5D6B7A"/>
                </a:solidFill>
                <a:latin typeface="Segoe UI"/>
              </a:rPr>
              <a:t>Outcome model macro-F1 0.485 (logistic 0.460); P(fail or withdraw) ROC-AUC 0.852. Ranking precision at 10%: 98%.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1F6F8B"/>
                </a:solidFill>
                <a:latin typeface="Segoe UI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7324D"/>
                </a:solidFill>
                <a:latin typeface="Segoe UI"/>
              </a:rPr>
              <a:t>Live: week, student, support plan, case search, copilot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46520"/>
            <a:ext cx="11109960" cy="0"/>
          </a:xfrm>
          <a:prstGeom prst="line">
            <a:avLst/>
          </a:prstGeom>
          <a:ln w="9525">
            <a:solidFill>
              <a:srgbClr val="D5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reeform 5"/>
          <p:cNvSpPr/>
          <p:nvPr/>
        </p:nvSpPr>
        <p:spPr>
          <a:xfrm>
            <a:off x="561213" y="6544818"/>
            <a:ext cx="176021" cy="100584"/>
          </a:xfrm>
          <a:custGeom>
            <a:avLst/>
            <a:gdLst/>
            <a:ahLst/>
            <a:cxnLst/>
            <a:rect l="l" t="t" r="r" b="b"/>
            <a:pathLst>
              <a:path w="176021" h="100584">
                <a:moveTo>
                  <a:pt x="0" y="46101"/>
                </a:moveTo>
                <a:lnTo>
                  <a:pt x="25146" y="37719"/>
                </a:lnTo>
                <a:lnTo>
                  <a:pt x="58674" y="100584"/>
                </a:lnTo>
                <a:lnTo>
                  <a:pt x="88011" y="71247"/>
                </a:lnTo>
                <a:lnTo>
                  <a:pt x="108966" y="79629"/>
                </a:lnTo>
                <a:lnTo>
                  <a:pt x="176021" y="0"/>
                </a:lnTo>
              </a:path>
            </a:pathLst>
          </a:custGeom>
          <a:noFill/>
          <a:ln w="1905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1213" y="6699885"/>
            <a:ext cx="176021" cy="0"/>
          </a:xfrm>
          <a:prstGeom prst="line">
            <a:avLst/>
          </a:prstGeom>
          <a:ln w="9525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iamond 7"/>
          <p:cNvSpPr/>
          <p:nvPr/>
        </p:nvSpPr>
        <p:spPr>
          <a:xfrm>
            <a:off x="593064" y="6618579"/>
            <a:ext cx="53644" cy="53644"/>
          </a:xfrm>
          <a:prstGeom prst="diamond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510528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5D6B7A"/>
                </a:solidFill>
                <a:latin typeface="Segoe UI"/>
              </a:rPr>
              <a:t>Uplift · Student Success 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10528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5D6B7A"/>
                </a:solidFill>
                <a:latin typeface="Segoe UI"/>
              </a:rPr>
              <a:t>11</a:t>
            </a:r>
          </a:p>
        </p:txBody>
      </p:sp>
      <p:pic>
        <p:nvPicPr>
          <p:cNvPr id="11" name="Picture 10" descr="stud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5440680" cy="3400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4800600"/>
            <a:ext cx="5440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D6B7A"/>
                </a:solidFill>
                <a:latin typeface="Segoe UI"/>
              </a:rPr>
              <a:t>Student case file: why flagged, risk across the course, support plan</a:t>
            </a:r>
          </a:p>
        </p:txBody>
      </p:sp>
      <p:pic>
        <p:nvPicPr>
          <p:cNvPr id="13" name="Picture 12" descr="copilo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325880"/>
            <a:ext cx="5440680" cy="34004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4800600"/>
            <a:ext cx="5440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D6B7A"/>
                </a:solidFill>
                <a:latin typeface="Segoe UI"/>
              </a:rPr>
              <a:t>Copilot: tool calls, streamed answer, every number checked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12080"/>
            <a:ext cx="1110996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50" b="0">
                <a:solidFill>
                  <a:srgbClr val="17324D"/>
                </a:solidFill>
                <a:latin typeface="Segoe UI"/>
              </a:rPr>
              <a:t>1. uvicorn src.main:app --reload  →  http://127.0.0.1:8000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7324D"/>
                </a:solidFill>
                <a:latin typeface="Segoe UI"/>
              </a:rPr>
              <a:t>2. This week: course clock, week 5 → 15, who to reach first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7324D"/>
                </a:solidFill>
                <a:latin typeface="Segoe UI"/>
              </a:rPr>
              <a:t>3. Student: drivers, risk trail, Draft a support plan (agent steps), rewrite as SMS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7324D"/>
                </a:solidFill>
                <a:latin typeface="Segoe UI"/>
              </a:rPr>
              <a:t>4. Case finder: plain-English search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17324D"/>
                </a:solidFill>
                <a:latin typeface="Segoe UI"/>
              </a:rPr>
              <a:t>5. Copilot: 'Who should I contact first in BBB 2014J?'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1F6F8B"/>
                </a:solidFill>
                <a:latin typeface="Segoe UI"/>
              </a:rPr>
              <a:t>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7324D"/>
                </a:solidFill>
                <a:latin typeface="Segoe UI"/>
              </a:rPr>
              <a:t>Five layers of evaluation, each catching what the others miss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D6B7A"/>
                </a:solidFill>
                <a:latin typeface="Segoe UI"/>
              </a:rPr>
              <a:t>AI evaluation: generators claude-sonnet-5-5 / claude-haiku-5-5; judge claude-opus-5-5; release gate passed.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109960" cy="0"/>
          </a:xfrm>
          <a:prstGeom prst="line">
            <a:avLst/>
          </a:prstGeom>
          <a:ln w="9525">
            <a:solidFill>
              <a:srgbClr val="D5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 6"/>
          <p:cNvSpPr/>
          <p:nvPr/>
        </p:nvSpPr>
        <p:spPr>
          <a:xfrm>
            <a:off x="561213" y="6544818"/>
            <a:ext cx="176021" cy="100584"/>
          </a:xfrm>
          <a:custGeom>
            <a:avLst/>
            <a:gdLst/>
            <a:ahLst/>
            <a:cxnLst/>
            <a:rect l="l" t="t" r="r" b="b"/>
            <a:pathLst>
              <a:path w="176021" h="100584">
                <a:moveTo>
                  <a:pt x="0" y="46101"/>
                </a:moveTo>
                <a:lnTo>
                  <a:pt x="25146" y="37719"/>
                </a:lnTo>
                <a:lnTo>
                  <a:pt x="58674" y="100584"/>
                </a:lnTo>
                <a:lnTo>
                  <a:pt x="88011" y="71247"/>
                </a:lnTo>
                <a:lnTo>
                  <a:pt x="108966" y="79629"/>
                </a:lnTo>
                <a:lnTo>
                  <a:pt x="176021" y="0"/>
                </a:lnTo>
              </a:path>
            </a:pathLst>
          </a:custGeom>
          <a:noFill/>
          <a:ln w="1905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61213" y="6699885"/>
            <a:ext cx="176021" cy="0"/>
          </a:xfrm>
          <a:prstGeom prst="line">
            <a:avLst/>
          </a:prstGeom>
          <a:ln w="9525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iamond 8"/>
          <p:cNvSpPr/>
          <p:nvPr/>
        </p:nvSpPr>
        <p:spPr>
          <a:xfrm>
            <a:off x="593064" y="6618579"/>
            <a:ext cx="53644" cy="53644"/>
          </a:xfrm>
          <a:prstGeom prst="diamond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510528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5D6B7A"/>
                </a:solidFill>
                <a:latin typeface="Segoe UI"/>
              </a:rPr>
              <a:t>Uplift · Student Success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10528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5D6B7A"/>
                </a:solidFill>
                <a:latin typeface="Segoe UI"/>
              </a:rPr>
              <a:t>12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658368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3520440"/>
                <a:gridCol w="1554480"/>
              </a:tblGrid>
              <a:tr h="47548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Layer</a:t>
                      </a:r>
                    </a:p>
                  </a:txBody>
                  <a:tcPr marL="73152" marR="73152" marT="27432" marB="27432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Measure</a:t>
                      </a:r>
                    </a:p>
                  </a:txBody>
                  <a:tcPr marL="73152" marR="73152" marT="27432" marB="27432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Result</a:t>
                      </a:r>
                    </a:p>
                  </a:txBody>
                  <a:tcPr marL="73152" marR="73152" marT="27432" marB="27432">
                    <a:solidFill>
                      <a:srgbClr val="1732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7324D"/>
                          </a:solidFill>
                          <a:latin typeface="Segoe UI"/>
                        </a:rPr>
                        <a:t>1 Code checks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7324D"/>
                          </a:solidFill>
                          <a:latin typeface="Segoe UI"/>
                        </a:rPr>
                        <a:t>plans passing every guardrail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7324D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7324D"/>
                          </a:solidFill>
                          <a:latin typeface="Segoe UI"/>
                        </a:rPr>
                        <a:t>2 LLM-as-judge</a:t>
                      </a:r>
                    </a:p>
                  </a:txBody>
                  <a:tcPr marL="73152" marR="73152" marT="27432" marB="2743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7324D"/>
                          </a:solidFill>
                          <a:latin typeface="Segoe UI"/>
                        </a:rPr>
                        <a:t>judge pass rate · AI plan preferred (order-swapped A/B)</a:t>
                      </a:r>
                    </a:p>
                  </a:txBody>
                  <a:tcPr marL="73152" marR="73152" marT="27432" marB="2743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7324D"/>
                          </a:solidFill>
                          <a:latin typeface="Segoe UI"/>
                        </a:rPr>
                        <a:t>96% · 89%</a:t>
                      </a:r>
                    </a:p>
                  </a:txBody>
                  <a:tcPr marL="73152" marR="73152" marT="27432" marB="27432">
                    <a:solidFill>
                      <a:srgbClr val="F3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7324D"/>
                          </a:solidFill>
                          <a:latin typeface="Segoe UI"/>
                        </a:rPr>
                        <a:t>3 DeepEval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7324D"/>
                          </a:solidFill>
                          <a:latin typeface="Segoe UI"/>
                        </a:rPr>
                        <a:t>faithfulness · answer relevancy · actionable (pass rate)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7324D"/>
                          </a:solidFill>
                          <a:latin typeface="Segoe UI"/>
                        </a:rPr>
                        <a:t>100% · 100% · 75%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7324D"/>
                          </a:solidFill>
                          <a:latin typeface="Segoe UI"/>
                        </a:rPr>
                        <a:t>4 RAGAS</a:t>
                      </a:r>
                    </a:p>
                  </a:txBody>
                  <a:tcPr marL="73152" marR="73152" marT="27432" marB="2743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7324D"/>
                          </a:solidFill>
                          <a:latin typeface="Segoe UI"/>
                        </a:rPr>
                        <a:t>faithfulness of precedent synthesis (hallucination rate)</a:t>
                      </a:r>
                    </a:p>
                  </a:txBody>
                  <a:tcPr marL="73152" marR="73152" marT="27432" marB="2743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7324D"/>
                          </a:solidFill>
                          <a:latin typeface="Segoe UI"/>
                        </a:rPr>
                        <a:t>0.964 (3.6%)</a:t>
                      </a:r>
                    </a:p>
                  </a:txBody>
                  <a:tcPr marL="73152" marR="73152" marT="27432" marB="27432">
                    <a:solidFill>
                      <a:srgbClr val="F3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7324D"/>
                          </a:solidFill>
                          <a:latin typeface="Segoe UI"/>
                        </a:rPr>
                        <a:t>5 Copilot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7324D"/>
                          </a:solidFill>
                          <a:latin typeface="Segoe UI"/>
                        </a:rPr>
                        <a:t>golden questions correct · adversarial prompts handled safely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7324D"/>
                          </a:solidFill>
                          <a:latin typeface="Segoe UI"/>
                        </a:rPr>
                        <a:t>100% · 88%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7324D"/>
                          </a:solidFill>
                          <a:latin typeface="Segoe UI"/>
                        </a:rPr>
                        <a:t>Retrieval</a:t>
                      </a:r>
                    </a:p>
                  </a:txBody>
                  <a:tcPr marL="73152" marR="73152" marT="27432" marB="2743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7324D"/>
                          </a:solidFill>
                          <a:latin typeface="Segoe UI"/>
                        </a:rPr>
                        <a:t>neighbour-vote AUC hybrid vs random</a:t>
                      </a:r>
                    </a:p>
                  </a:txBody>
                  <a:tcPr marL="73152" marR="73152" marT="27432" marB="2743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7324D"/>
                          </a:solidFill>
                          <a:latin typeface="Segoe UI"/>
                        </a:rPr>
                        <a:t>0.835 vs 0.512</a:t>
                      </a:r>
                    </a:p>
                  </a:txBody>
                  <a:tcPr marL="73152" marR="73152" marT="27432" marB="27432">
                    <a:solidFill>
                      <a:srgbClr val="F3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7324D"/>
                          </a:solidFill>
                          <a:latin typeface="Segoe UI"/>
                        </a:rPr>
                        <a:t>Tests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7324D"/>
                          </a:solidFill>
                          <a:latin typeface="Segoe UI"/>
                        </a:rPr>
                        <a:t>pytest suite: no network, no LLM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7324D"/>
                          </a:solidFill>
                          <a:latin typeface="Segoe UI"/>
                        </a:rPr>
                        <a:t>139 tests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406640" y="1691640"/>
          <a:ext cx="425196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406640" y="5897880"/>
            <a:ext cx="42519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D6B7A"/>
                </a:solidFill>
                <a:latin typeface="Segoe UI"/>
              </a:rPr>
              <a:t>DeepEval mean scores (0 to 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1F6F8B"/>
                </a:solidFill>
                <a:latin typeface="Segoe UI"/>
              </a:rPr>
              <a:t>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7324D"/>
                </a:solidFill>
                <a:latin typeface="Segoe UI"/>
              </a:rPr>
              <a:t>Supportive by design, checked in code, fair by audit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46520"/>
            <a:ext cx="11109960" cy="0"/>
          </a:xfrm>
          <a:prstGeom prst="line">
            <a:avLst/>
          </a:prstGeom>
          <a:ln w="9525">
            <a:solidFill>
              <a:srgbClr val="D5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reeform 5"/>
          <p:cNvSpPr/>
          <p:nvPr/>
        </p:nvSpPr>
        <p:spPr>
          <a:xfrm>
            <a:off x="561213" y="6544818"/>
            <a:ext cx="176021" cy="100584"/>
          </a:xfrm>
          <a:custGeom>
            <a:avLst/>
            <a:gdLst/>
            <a:ahLst/>
            <a:cxnLst/>
            <a:rect l="l" t="t" r="r" b="b"/>
            <a:pathLst>
              <a:path w="176021" h="100584">
                <a:moveTo>
                  <a:pt x="0" y="46101"/>
                </a:moveTo>
                <a:lnTo>
                  <a:pt x="25146" y="37719"/>
                </a:lnTo>
                <a:lnTo>
                  <a:pt x="58674" y="100584"/>
                </a:lnTo>
                <a:lnTo>
                  <a:pt x="88011" y="71247"/>
                </a:lnTo>
                <a:lnTo>
                  <a:pt x="108966" y="79629"/>
                </a:lnTo>
                <a:lnTo>
                  <a:pt x="176021" y="0"/>
                </a:lnTo>
              </a:path>
            </a:pathLst>
          </a:custGeom>
          <a:noFill/>
          <a:ln w="1905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1213" y="6699885"/>
            <a:ext cx="176021" cy="0"/>
          </a:xfrm>
          <a:prstGeom prst="line">
            <a:avLst/>
          </a:prstGeom>
          <a:ln w="9525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iamond 7"/>
          <p:cNvSpPr/>
          <p:nvPr/>
        </p:nvSpPr>
        <p:spPr>
          <a:xfrm>
            <a:off x="593064" y="6618579"/>
            <a:ext cx="53644" cy="53644"/>
          </a:xfrm>
          <a:prstGeom prst="diamond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510528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5D6B7A"/>
                </a:solidFill>
                <a:latin typeface="Segoe UI"/>
              </a:rPr>
              <a:t>Uplift · Student Success 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10528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5D6B7A"/>
                </a:solidFill>
                <a:latin typeface="Segoe UI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371600"/>
            <a:ext cx="35661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73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5800" y="1481328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7324D"/>
                </a:solidFill>
                <a:latin typeface="Segoe UI"/>
              </a:rPr>
              <a:t>Input guardrails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865376"/>
            <a:ext cx="3291840" cy="176479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250" b="0">
                <a:solidFill>
                  <a:srgbClr val="5D6B7A"/>
                </a:solidFill>
                <a:latin typeface="Segoe UI"/>
              </a:rPr>
              <a:t>API key and admin key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5D6B7A"/>
                </a:solidFill>
                <a:latin typeface="Segoe UI"/>
              </a:rPr>
              <a:t>Rate limit, request-size limit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5D6B7A"/>
                </a:solidFill>
                <a:latin typeface="Segoe UI"/>
              </a:rPr>
              <a:t>Strict schemas and vocabularies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5D6B7A"/>
                </a:solidFill>
                <a:latin typeface="Segoe UI"/>
              </a:rPr>
              <a:t>Prompt-injection screening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371600"/>
            <a:ext cx="35661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4A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53128" y="1481328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7324D"/>
                </a:solidFill>
                <a:latin typeface="Segoe UI"/>
              </a:rPr>
              <a:t>Output 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1865376"/>
            <a:ext cx="3291840" cy="176479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250" b="0">
                <a:solidFill>
                  <a:srgbClr val="5D6B7A"/>
                </a:solidFill>
                <a:latin typeface="Segoe UI"/>
              </a:rPr>
              <a:t>IDs must exist, numbers must be in the evidence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5D6B7A"/>
                </a:solidFill>
                <a:latin typeface="Segoe UI"/>
              </a:rPr>
              <a:t>Only eligible, supportive actions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5D6B7A"/>
                </a:solidFill>
                <a:latin typeface="Segoe UI"/>
              </a:rPr>
              <a:t>No protected, punitive, clinical or stigma terms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5D6B7A"/>
                </a:solidFill>
                <a:latin typeface="Segoe UI"/>
              </a:rPr>
              <a:t>Revise once, else computed fallback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371600"/>
            <a:ext cx="35661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D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600" y="1481328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7324D"/>
                </a:solidFill>
                <a:latin typeface="Segoe UI"/>
              </a:rPr>
              <a:t>Human in the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865376"/>
            <a:ext cx="3291840" cy="176479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250" b="0">
                <a:solidFill>
                  <a:srgbClr val="5D6B7A"/>
                </a:solidFill>
                <a:latin typeface="Segoe UI"/>
              </a:rPr>
              <a:t>AI text labelled; advisor edits every message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5D6B7A"/>
                </a:solidFill>
                <a:latin typeface="Segoe UI"/>
              </a:rPr>
              <a:t>Never for grading, admissions or sanctions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5D6B7A"/>
                </a:solidFill>
                <a:latin typeface="Segoe UI"/>
              </a:rPr>
              <a:t>Feedback changes nothing until approved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77639"/>
            <a:ext cx="11109960" cy="2286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F6F8B"/>
                </a:solidFill>
                <a:latin typeface="Segoe UI"/>
              </a:rPr>
              <a:t>•  </a:t>
            </a:r>
            <a:r>
              <a:rPr sz="1400" b="1">
                <a:solidFill>
                  <a:srgbClr val="17324D"/>
                </a:solidFill>
                <a:latin typeface="Segoe UI"/>
              </a:rPr>
              <a:t>Sensitive attributes</a:t>
            </a:r>
            <a:r>
              <a:rPr sz="1400" b="0">
                <a:solidFill>
                  <a:srgbClr val="17324D"/>
                </a:solidFill>
                <a:latin typeface="Segoe UI"/>
              </a:rPr>
              <a:t> (gender, region, deprivation, age, education, disability) are never model inputs and never sent to the LLM; adding them would change ROC-AUC by only 0.002.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6F8B"/>
                </a:solidFill>
                <a:latin typeface="Segoe UI"/>
              </a:rPr>
              <a:t>•  </a:t>
            </a:r>
            <a:r>
              <a:rPr sz="1400" b="1">
                <a:solidFill>
                  <a:srgbClr val="17324D"/>
                </a:solidFill>
                <a:latin typeface="Segoe UI"/>
              </a:rPr>
              <a:t>Fairness audit</a:t>
            </a:r>
            <a:r>
              <a:rPr sz="1400" b="0">
                <a:solidFill>
                  <a:srgbClr val="17324D"/>
                </a:solidFill>
                <a:latin typeface="Segoe UI"/>
              </a:rPr>
              <a:t>: each group gap is tested against the gap random labels would give at the same group sizes (permutation test, overall and within module).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6F8B"/>
                </a:solidFill>
                <a:latin typeface="Segoe UI"/>
              </a:rPr>
              <a:t>•  </a:t>
            </a:r>
            <a:r>
              <a:rPr sz="1400" b="0">
                <a:solidFill>
                  <a:srgbClr val="17324D"/>
                </a:solidFill>
                <a:latin typeface="Segoe UI"/>
              </a:rPr>
              <a:t>Region and deprivation gaps are within chance. The disability gap (0.23) is real and reported, with a per-group threshold review for the equity office, not applied automatically.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1F6F8B"/>
                </a:solidFill>
                <a:latin typeface="Segoe UI"/>
              </a:rPr>
              <a:t>CHALLENGES AND 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7324D"/>
                </a:solidFill>
                <a:latin typeface="Segoe UI"/>
              </a:rPr>
              <a:t>What was hard, and what changed because of 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46520"/>
            <a:ext cx="11109960" cy="0"/>
          </a:xfrm>
          <a:prstGeom prst="line">
            <a:avLst/>
          </a:prstGeom>
          <a:ln w="9525">
            <a:solidFill>
              <a:srgbClr val="D5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reeform 5"/>
          <p:cNvSpPr/>
          <p:nvPr/>
        </p:nvSpPr>
        <p:spPr>
          <a:xfrm>
            <a:off x="561213" y="6544818"/>
            <a:ext cx="176021" cy="100584"/>
          </a:xfrm>
          <a:custGeom>
            <a:avLst/>
            <a:gdLst/>
            <a:ahLst/>
            <a:cxnLst/>
            <a:rect l="l" t="t" r="r" b="b"/>
            <a:pathLst>
              <a:path w="176021" h="100584">
                <a:moveTo>
                  <a:pt x="0" y="46101"/>
                </a:moveTo>
                <a:lnTo>
                  <a:pt x="25146" y="37719"/>
                </a:lnTo>
                <a:lnTo>
                  <a:pt x="58674" y="100584"/>
                </a:lnTo>
                <a:lnTo>
                  <a:pt x="88011" y="71247"/>
                </a:lnTo>
                <a:lnTo>
                  <a:pt x="108966" y="79629"/>
                </a:lnTo>
                <a:lnTo>
                  <a:pt x="176021" y="0"/>
                </a:lnTo>
              </a:path>
            </a:pathLst>
          </a:custGeom>
          <a:noFill/>
          <a:ln w="1905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61213" y="6699885"/>
            <a:ext cx="176021" cy="0"/>
          </a:xfrm>
          <a:prstGeom prst="line">
            <a:avLst/>
          </a:prstGeom>
          <a:ln w="9525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iamond 7"/>
          <p:cNvSpPr/>
          <p:nvPr/>
        </p:nvSpPr>
        <p:spPr>
          <a:xfrm>
            <a:off x="593064" y="6618579"/>
            <a:ext cx="53644" cy="53644"/>
          </a:xfrm>
          <a:prstGeom prst="diamond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510528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5D6B7A"/>
                </a:solidFill>
                <a:latin typeface="Segoe UI"/>
              </a:rPr>
              <a:t>Uplift · Student Success 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10528"/>
            <a:ext cx="10515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5D6B7A"/>
                </a:solidFill>
                <a:latin typeface="Segoe UI"/>
              </a:rPr>
              <a:t>14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325880"/>
          <a:ext cx="1110996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931920"/>
                <a:gridCol w="3520440"/>
              </a:tblGrid>
              <a:tr h="65836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Challenge</a:t>
                      </a:r>
                    </a:p>
                  </a:txBody>
                  <a:tcPr marL="73152" marR="73152" marT="27432" marB="27432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What we did</a:t>
                      </a:r>
                    </a:p>
                  </a:txBody>
                  <a:tcPr marL="73152" marR="73152" marT="27432" marB="27432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Learning</a:t>
                      </a:r>
                    </a:p>
                  </a:txBody>
                  <a:tcPr marL="73152" marR="73152" marT="27432" marB="27432">
                    <a:solidFill>
                      <a:srgbClr val="17324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7324D"/>
                          </a:solidFill>
                          <a:latin typeface="Segoe UI"/>
                        </a:rPr>
                        <a:t>Inflated accuracy (0.90 AUC) from scoring students who had left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7324D"/>
                          </a:solidFill>
                          <a:latin typeface="Segoe UI"/>
                        </a:rPr>
                        <a:t>Score in-scope students only; temporal split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7324D"/>
                          </a:solidFill>
                          <a:latin typeface="Segoe UI"/>
                        </a:rPr>
                        <a:t>Evaluate the decision the user actually faces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7324D"/>
                          </a:solidFill>
                          <a:latin typeface="Segoe UI"/>
                        </a:rPr>
                        <a:t>Numbers in text made keyword and dense search random</a:t>
                      </a:r>
                    </a:p>
                  </a:txBody>
                  <a:tcPr marL="73152" marR="73152" marT="27432" marB="2743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7324D"/>
                          </a:solidFill>
                          <a:latin typeface="Segoe UI"/>
                        </a:rPr>
                        <a:t>Band numbers into descriptors; numeric similarity in its own channel</a:t>
                      </a:r>
                    </a:p>
                  </a:txBody>
                  <a:tcPr marL="73152" marR="73152" marT="27432" marB="2743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7324D"/>
                          </a:solidFill>
                          <a:latin typeface="Segoe UI"/>
                        </a:rPr>
                        <a:t>Hybrid retrieval must match the data type</a:t>
                      </a:r>
                    </a:p>
                  </a:txBody>
                  <a:tcPr marL="73152" marR="73152" marT="27432" marB="27432">
                    <a:solidFill>
                      <a:srgbClr val="F3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7324D"/>
                          </a:solidFill>
                          <a:latin typeface="Segoe UI"/>
                        </a:rPr>
                        <a:t>LLM drafts invented numbers and IDs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7324D"/>
                          </a:solidFill>
                          <a:latin typeface="Segoe UI"/>
                        </a:rPr>
                        <a:t>Evidence IDs, code checks, one revision, fallback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7324D"/>
                          </a:solidFill>
                          <a:latin typeface="Segoe UI"/>
                        </a:rPr>
                        <a:t>Let the LLM narrate and select; code decides facts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7324D"/>
                          </a:solidFill>
                          <a:latin typeface="Segoe UI"/>
                        </a:rPr>
                        <a:t>Self-grading and position bias</a:t>
                      </a:r>
                    </a:p>
                  </a:txBody>
                  <a:tcPr marL="73152" marR="73152" marT="27432" marB="2743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7324D"/>
                          </a:solidFill>
                          <a:latin typeface="Segoe UI"/>
                        </a:rPr>
                        <a:t>Different judge model, computed verdict, order-swapped A/B, human review</a:t>
                      </a:r>
                    </a:p>
                  </a:txBody>
                  <a:tcPr marL="73152" marR="73152" marT="27432" marB="2743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7324D"/>
                          </a:solidFill>
                          <a:latin typeface="Segoe UI"/>
                        </a:rPr>
                        <a:t>Evaluate the evaluator</a:t>
                      </a:r>
                    </a:p>
                  </a:txBody>
                  <a:tcPr marL="73152" marR="73152" marT="27432" marB="27432">
                    <a:solidFill>
                      <a:srgbClr val="F3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7324D"/>
                          </a:solidFill>
                          <a:latin typeface="Segoe UI"/>
                        </a:rPr>
                        <a:t>Validation gains that did not hold on test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7324D"/>
                          </a:solidFill>
                          <a:latin typeface="Segoe UI"/>
                        </a:rPr>
                        <a:t>Rejected the feature set instead of tuning on test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7324D"/>
                          </a:solidFill>
                          <a:latin typeface="Segoe UI"/>
                        </a:rPr>
                        <a:t>Keep the test set untouched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7324D"/>
                          </a:solidFill>
                          <a:latin typeface="Segoe UI"/>
                        </a:rPr>
                        <a:t>RAGAS dependencies broke the pinned service</a:t>
                      </a:r>
                    </a:p>
                  </a:txBody>
                  <a:tcPr marL="73152" marR="73152" marT="27432" marB="2743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7324D"/>
                          </a:solidFill>
                          <a:latin typeface="Segoe UI"/>
                        </a:rPr>
                        <a:t>RAGAS in its own environment</a:t>
                      </a:r>
                    </a:p>
                  </a:txBody>
                  <a:tcPr marL="73152" marR="73152" marT="27432" marB="2743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7324D"/>
                          </a:solidFill>
                          <a:latin typeface="Segoe UI"/>
                        </a:rPr>
                        <a:t>Isolate evaluation tooling</a:t>
                      </a:r>
                    </a:p>
                  </a:txBody>
                  <a:tcPr marL="73152" marR="73152" marT="27432" marB="27432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868680" y="1554480"/>
            <a:ext cx="640080" cy="365760"/>
          </a:xfrm>
          <a:custGeom>
            <a:avLst/>
            <a:gdLst/>
            <a:ahLst/>
            <a:cxnLst/>
            <a:rect l="l" t="t" r="r" b="b"/>
            <a:pathLst>
              <a:path w="640080" h="365760">
                <a:moveTo>
                  <a:pt x="0" y="167640"/>
                </a:moveTo>
                <a:lnTo>
                  <a:pt x="91440" y="137160"/>
                </a:lnTo>
                <a:lnTo>
                  <a:pt x="213360" y="365760"/>
                </a:lnTo>
                <a:lnTo>
                  <a:pt x="320040" y="259080"/>
                </a:lnTo>
                <a:lnTo>
                  <a:pt x="396240" y="289560"/>
                </a:lnTo>
                <a:lnTo>
                  <a:pt x="640080" y="0"/>
                </a:lnTo>
              </a:path>
            </a:pathLst>
          </a:custGeom>
          <a:noFill/>
          <a:ln w="26416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68680" y="2118360"/>
            <a:ext cx="640080" cy="0"/>
          </a:xfrm>
          <a:prstGeom prst="line">
            <a:avLst/>
          </a:prstGeom>
          <a:ln w="11176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iamond 3"/>
          <p:cNvSpPr/>
          <p:nvPr/>
        </p:nvSpPr>
        <p:spPr>
          <a:xfrm>
            <a:off x="984504" y="1822704"/>
            <a:ext cx="195072" cy="195072"/>
          </a:xfrm>
          <a:prstGeom prst="diamond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37360" y="1371600"/>
            <a:ext cx="91440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C9D7E2"/>
                </a:solidFill>
                <a:latin typeface="Segoe UI"/>
              </a:rPr>
              <a:t>Questions, or a live look at any part of Uplift.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383280"/>
            <a:ext cx="3291840" cy="54864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515600" cy="2194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C9D7E2"/>
                </a:solidFill>
                <a:latin typeface="Segoe UI"/>
              </a:rPr>
              <a:t>Run it:  uvicorn src.main:app --reload   →   http://127.0.0.1:8000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C9D7E2"/>
                </a:solidFill>
                <a:latin typeface="Segoe UI"/>
              </a:rPr>
              <a:t>Architecture_Diagram.pdf · Design_Document.pdf · API_Documentation.pdf · Evaluation_Report.pdf · Dataset_Details.pdf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C9D7E2"/>
                </a:solidFill>
                <a:latin typeface="Segoe UI"/>
              </a:rPr>
              <a:t>API reference live at /api/docs  ·  model card: docs/MODEL_CARD.md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