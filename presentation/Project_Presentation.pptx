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Today I am presenting the AI-Powered Education Student Success Assistant, an end-to-end GenAI and machine learning system built on the Open University Learning Analytics Dataset (OULAD). This system addresses the critical problem of early student disengagement and withdrawal through calibrated prediction, hybrid RAG precedent retrieval, and guardrail-enforced multi-agent intervention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focuses on the Problem Statement. Online institutions struggle to identify at-risk students in time. Manual record review is impossible across 30,000+ students. Furthermore, many existing models suffer from severe target leakage by training on students who had already withdrawn before the course started. Our problem framing strictly isolates students who are actively enrolled at the evaluation checkpoint.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covers the Business Need. Universities lose millions in tuition and student outcomes when learners drop out. Advisors have limited weekly hours, so prioritization is crucial: our system delivers 2.3x lift at 10% capacity. Equally important, all outreach is strictly non-punitive and sensitive demographic features are isolated to prevent bias.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outlines the three pillars of our solution: First, calibrated ML models that predict withdrawal and 4-class outcomes with TreeSHAP explanations. Second, a Hybrid RAG retriever combining BM25 and supervised kNN to find similar past students. Third, a Multi-Agent GenAI workflow that collaborates to draft actionable, critic-verified intervention plans.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showcases the system architecture. As required in the Capstone guidelines, it flows from Dataset through Preprocessing, Chunking, Embeddings, Vector Database, Retriever, LLM/RAG Pipeline, Agents, API Layer, and User Interface. Everything runs locally as a complete Python microservice without requiring heavy external cloud services.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describes the Data Flow. In the offline pipeline, data is strictly sliced at temporal checkpoints (weeks 6, 9, 15, 22) to ensure zero data leakage from the future. Online, an advisor query flows through auth, profile resolution, ~50ms calibrated prediction, hybrid retrieval of earlier cohorts, and multi-agent synthesis with strict critic validation.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reviews our Technology Stack. Python powers the entire backend with Scikit-learn and XGBoost for gradient boosting. Retrieval uses BM25 and supervised kNN with RRF fusion. The API is built on FastAPI and Uvicorn, with dual frontends: an interactive Streamlit application (frontend.py) and a React console. SQLite manages persistent feedback.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explains our Multi-Agent Workflow. The Performance, Risk, Router, Intervention, and Critic agents communicate through a shared typed state. The Critic agent enforces deterministic code guardrails: numbers must match snapshot facts, punitive words are banned, and sensitive attributes can never be used as justifications. If an LLM fails checks, it is automatically revised or falls back to an expert deterministic plan.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illustrates the Live Demo capabilities. Running 'streamlit run frontend.py' launches a comprehensive advisor dashboard. Advisors can slide the course clock, review prioritized student queues, examine TreeSHAP attributions, search similar precedents, run the multi-agent workflow, interact with the tool-calling Copilot, and record feedback into the continuous learning loop.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presents our Evaluation Results. On the untouched 2014J test presentation, our withdrawal model achieves ROC-AUC 0.730 with an outstanding calibration error of 0.006. Our Hybrid RAG achieves 0.835 neighbour-vote AUC compared to 0.512 for random chance. DeepEval and LLM-as-Judge confirm 100% guardrail pass rates, zero hallucinations, and all 56 tests pass.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highlights Challenges and Learnings. Our biggest technical triumph was eliminating the pervasive data leakage trap that corrupted earlier benchmarks. We also proved that deterministic code guardrails are essential for trustworthy AI. By grounding LLMs with verified tool results and discretizing tabular features into semantic tokens, we created a dependable, auditable system that genuinely helps university educators.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1828800"/>
            <a:ext cx="10332720" cy="2743200"/>
          </a:xfrm>
          <a:prstGeom prst="rect">
            <a:avLst/>
          </a:prstGeom>
          <a:noFill/>
        </p:spPr>
        <p:txBody>
          <a:bodyPr wrap="square">
            <a:spAutoFit/>
          </a:bodyPr>
          <a:lstStyle/>
          <a:p>
            <a:pPr>
              <a:defRPr sz="3600" b="1">
                <a:solidFill>
                  <a:srgbClr val="FFFFFF"/>
                </a:solidFill>
              </a:defRPr>
            </a:pPr>
            <a:r>
              <a:t>AI-Powered Education Student Success Assistant</a:t>
            </a:r>
          </a:p>
          <a:p>
            <a:pPr>
              <a:spcBef>
                <a:spcPts val="1200"/>
              </a:spcBef>
              <a:defRPr sz="1800">
                <a:solidFill>
                  <a:srgbClr val="0D9488"/>
                </a:solidFill>
              </a:defRPr>
            </a:pPr>
            <a:r>
              <a:t>Early-Warning Risk Diagnosis, TreeSHAP Explainability, Hybrid RAG Precedents &amp; Multi-Agent Support</a:t>
            </a:r>
          </a:p>
          <a:p>
            <a:pPr>
              <a:spcBef>
                <a:spcPts val="1800"/>
              </a:spcBef>
              <a:defRPr sz="1300">
                <a:solidFill>
                  <a:srgbClr val="64748B"/>
                </a:solidFill>
              </a:defRPr>
            </a:pPr>
            <a:r>
              <a:t>Capstone Presentation · 10-Minute Comprehensive Solution Defense · OULAD Dataset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9144000" cy="365760"/>
          </a:xfrm>
          <a:prstGeom prst="rect">
            <a:avLst/>
          </a:prstGeom>
          <a:noFill/>
        </p:spPr>
        <p:txBody>
          <a:bodyPr wrap="square">
            <a:spAutoFit/>
          </a:bodyPr>
          <a:lstStyle/>
          <a:p>
            <a:pPr>
              <a:defRPr sz="1100" b="1">
                <a:solidFill>
                  <a:srgbClr val="0D9488"/>
                </a:solidFill>
              </a:defRPr>
            </a:pPr>
            <a:r>
              <a:t>DELIVERABLE 1</a:t>
            </a:r>
          </a:p>
        </p:txBody>
      </p:sp>
      <p:sp>
        <p:nvSpPr>
          <p:cNvPr id="3" name="TextBox 2"/>
          <p:cNvSpPr txBox="1"/>
          <p:nvPr/>
        </p:nvSpPr>
        <p:spPr>
          <a:xfrm>
            <a:off x="731520" y="640080"/>
            <a:ext cx="10515600" cy="731520"/>
          </a:xfrm>
          <a:prstGeom prst="rect">
            <a:avLst/>
          </a:prstGeom>
          <a:noFill/>
        </p:spPr>
        <p:txBody>
          <a:bodyPr wrap="square">
            <a:spAutoFit/>
          </a:bodyPr>
          <a:lstStyle/>
          <a:p>
            <a:pPr>
              <a:defRPr sz="2600" b="1">
                <a:solidFill>
                  <a:srgbClr val="1E293B"/>
                </a:solidFill>
              </a:defRPr>
            </a:pPr>
            <a:r>
              <a:t>1. Problem Statement</a:t>
            </a:r>
          </a:p>
        </p:txBody>
      </p:sp>
      <p:sp>
        <p:nvSpPr>
          <p:cNvPr id="4" name="Rounded Rectangle 3"/>
          <p:cNvSpPr/>
          <p:nvPr/>
        </p:nvSpPr>
        <p:spPr>
          <a:xfrm>
            <a:off x="731520" y="1645920"/>
            <a:ext cx="5120640" cy="457200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tIns="164592" lIns="182880" rIns="182880"/>
          <a:lstStyle/>
          <a:p>
            <a:pPr algn="ctr">
              <a:spcAft>
                <a:spcPts val="800"/>
              </a:spcAft>
              <a:defRPr sz="1500" b="1">
                <a:solidFill>
                  <a:srgbClr val="0D9488"/>
                </a:solidFill>
              </a:defRPr>
            </a:pPr>
            <a:r>
              <a:t>Core Educational Challenges</a:t>
            </a:r>
          </a:p>
          <a:p>
            <a:pPr>
              <a:spcAft>
                <a:spcPts val="400"/>
              </a:spcAft>
              <a:defRPr sz="1200">
                <a:solidFill>
                  <a:srgbClr val="1E293B"/>
                </a:solidFill>
              </a:defRPr>
            </a:pPr>
            <a:r>
              <a:t>• Online and distance education faces high student attrition and silent disengagement.</a:t>
            </a:r>
          </a:p>
          <a:p>
            <a:pPr>
              <a:spcAft>
                <a:spcPts val="400"/>
              </a:spcAft>
              <a:defRPr sz="1200">
                <a:solidFill>
                  <a:srgbClr val="1E293B"/>
                </a:solidFill>
              </a:defRPr>
            </a:pPr>
            <a:r>
              <a:t>• Over 30% of enrolled students struggle or withdraw before completing their course modules.</a:t>
            </a:r>
          </a:p>
          <a:p>
            <a:pPr>
              <a:spcAft>
                <a:spcPts val="400"/>
              </a:spcAft>
              <a:defRPr sz="1200">
                <a:solidFill>
                  <a:srgbClr val="1E293B"/>
                </a:solidFill>
              </a:defRPr>
            </a:pPr>
            <a:r>
              <a:t>• Academic advisors are overwhelmed by massive clickstream, submission, and demographic logs.</a:t>
            </a:r>
          </a:p>
          <a:p>
            <a:pPr>
              <a:spcAft>
                <a:spcPts val="400"/>
              </a:spcAft>
              <a:defRPr sz="1200">
                <a:solidFill>
                  <a:srgbClr val="1E293B"/>
                </a:solidFill>
              </a:defRPr>
            </a:pPr>
            <a:r>
              <a:t>• Manual inspection cannot identify at-risk students before critical deadlines have already passed.</a:t>
            </a:r>
          </a:p>
          <a:p>
            <a:pPr>
              <a:spcAft>
                <a:spcPts val="400"/>
              </a:spcAft>
              <a:defRPr sz="1200">
                <a:solidFill>
                  <a:srgbClr val="1E293B"/>
                </a:solidFill>
              </a:defRPr>
            </a:pPr>
            <a:r>
              <a:t>• Key Question 1: Has a student with similar patterns struggled or withdrawn before?</a:t>
            </a:r>
          </a:p>
          <a:p>
            <a:pPr>
              <a:spcAft>
                <a:spcPts val="400"/>
              </a:spcAft>
              <a:defRPr sz="1200">
                <a:solidFill>
                  <a:srgbClr val="1E293B"/>
                </a:solidFill>
              </a:defRPr>
            </a:pPr>
            <a:r>
              <a:t>• Key Question 2: What specific behavioral factors drive the risk of failure?</a:t>
            </a:r>
          </a:p>
          <a:p>
            <a:pPr>
              <a:spcAft>
                <a:spcPts val="400"/>
              </a:spcAft>
              <a:defRPr sz="1200">
                <a:solidFill>
                  <a:srgbClr val="1E293B"/>
                </a:solidFill>
              </a:defRPr>
            </a:pPr>
            <a:r>
              <a:t>• Key Question 3: Who should advisors prioritize first under strict capacity constraints?</a:t>
            </a:r>
          </a:p>
        </p:txBody>
      </p:sp>
      <p:sp>
        <p:nvSpPr>
          <p:cNvPr id="5" name="Rounded Rectangle 4"/>
          <p:cNvSpPr/>
          <p:nvPr/>
        </p:nvSpPr>
        <p:spPr>
          <a:xfrm>
            <a:off x="6217920" y="1645920"/>
            <a:ext cx="5212080" cy="457200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tIns="164592" lIns="182880" rIns="182880"/>
          <a:lstStyle/>
          <a:p>
            <a:pPr algn="ctr">
              <a:spcAft>
                <a:spcPts val="800"/>
              </a:spcAft>
              <a:defRPr sz="1500" b="1">
                <a:solidFill>
                  <a:srgbClr val="D97706"/>
                </a:solidFill>
              </a:defRPr>
            </a:pPr>
            <a:r>
              <a:t>Key Analytical Pitfalls</a:t>
            </a:r>
          </a:p>
          <a:p>
            <a:pPr>
              <a:spcAft>
                <a:spcPts val="400"/>
              </a:spcAft>
              <a:defRPr sz="1200">
                <a:solidFill>
                  <a:srgbClr val="1E293B"/>
                </a:solidFill>
              </a:defRPr>
            </a:pPr>
            <a:r>
              <a:t>• Target Leakage Trap: Prior benchmarks evaluated on students who had ALREADY withdrawn before day 0.</a:t>
            </a:r>
          </a:p>
          <a:p>
            <a:pPr>
              <a:spcAft>
                <a:spcPts val="400"/>
              </a:spcAft>
              <a:defRPr sz="1200">
                <a:solidFill>
                  <a:srgbClr val="1E293B"/>
                </a:solidFill>
              </a:defRPr>
            </a:pPr>
            <a:r>
              <a:t>• Evaluating already-withdrawn students artificially inflates ROC-AUC to 0.90 while rendering models useless.</a:t>
            </a:r>
          </a:p>
          <a:p>
            <a:pPr>
              <a:spcAft>
                <a:spcPts val="400"/>
              </a:spcAft>
              <a:defRPr sz="1200">
                <a:solidFill>
                  <a:srgbClr val="1E293B"/>
                </a:solidFill>
              </a:defRPr>
            </a:pPr>
            <a:r>
              <a:t>• Superficial Numbers: Advisors need actionable root causes, not black-box probability scores.</a:t>
            </a:r>
          </a:p>
          <a:p>
            <a:pPr>
              <a:spcAft>
                <a:spcPts val="400"/>
              </a:spcAft>
              <a:defRPr sz="1200">
                <a:solidFill>
                  <a:srgbClr val="1E293B"/>
                </a:solidFill>
              </a:defRPr>
            </a:pPr>
            <a:r>
              <a:t>• LLM Hallucinations: Standard generative LLMs fabricate numbers, course IDs, and punitive explanations.</a:t>
            </a:r>
          </a:p>
          <a:p>
            <a:pPr>
              <a:spcAft>
                <a:spcPts val="400"/>
              </a:spcAft>
              <a:defRPr sz="1200">
                <a:solidFill>
                  <a:srgbClr val="1E293B"/>
                </a:solidFill>
              </a:defRPr>
            </a:pPr>
            <a:r>
              <a:t>• Our Mandate: Build an early-warning system that evaluates ONLY currently enrolled students at decision time.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9144000" cy="365760"/>
          </a:xfrm>
          <a:prstGeom prst="rect">
            <a:avLst/>
          </a:prstGeom>
          <a:noFill/>
        </p:spPr>
        <p:txBody>
          <a:bodyPr wrap="square">
            <a:spAutoFit/>
          </a:bodyPr>
          <a:lstStyle/>
          <a:p>
            <a:pPr>
              <a:defRPr sz="1100" b="1">
                <a:solidFill>
                  <a:srgbClr val="0D9488"/>
                </a:solidFill>
              </a:defRPr>
            </a:pPr>
            <a:r>
              <a:t>DELIVERABLE 2</a:t>
            </a:r>
          </a:p>
        </p:txBody>
      </p:sp>
      <p:sp>
        <p:nvSpPr>
          <p:cNvPr id="3" name="TextBox 2"/>
          <p:cNvSpPr txBox="1"/>
          <p:nvPr/>
        </p:nvSpPr>
        <p:spPr>
          <a:xfrm>
            <a:off x="731520" y="640080"/>
            <a:ext cx="10515600" cy="731520"/>
          </a:xfrm>
          <a:prstGeom prst="rect">
            <a:avLst/>
          </a:prstGeom>
          <a:noFill/>
        </p:spPr>
        <p:txBody>
          <a:bodyPr wrap="square">
            <a:spAutoFit/>
          </a:bodyPr>
          <a:lstStyle/>
          <a:p>
            <a:pPr>
              <a:defRPr sz="2600" b="1">
                <a:solidFill>
                  <a:srgbClr val="1E293B"/>
                </a:solidFill>
              </a:defRPr>
            </a:pPr>
            <a:r>
              <a:t>2. Business Need</a:t>
            </a:r>
          </a:p>
        </p:txBody>
      </p:sp>
      <p:sp>
        <p:nvSpPr>
          <p:cNvPr id="4" name="Rounded Rectangle 3"/>
          <p:cNvSpPr/>
          <p:nvPr/>
        </p:nvSpPr>
        <p:spPr>
          <a:xfrm>
            <a:off x="731520" y="1554480"/>
            <a:ext cx="2468880" cy="118872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tIns="137160"/>
          <a:lstStyle/>
          <a:p>
            <a:pPr algn="ctr">
              <a:defRPr sz="2800" b="1">
                <a:solidFill>
                  <a:srgbClr val="0D9488"/>
                </a:solidFill>
              </a:defRPr>
            </a:pPr>
            <a:r>
              <a:t>25,204</a:t>
            </a:r>
          </a:p>
          <a:p>
            <a:pPr algn="ctr">
              <a:defRPr sz="1100">
                <a:solidFill>
                  <a:srgbClr val="64748B"/>
                </a:solidFill>
              </a:defRPr>
            </a:pPr>
            <a:r>
              <a:t>Enrolled Students at W15</a:t>
            </a:r>
          </a:p>
        </p:txBody>
      </p:sp>
      <p:sp>
        <p:nvSpPr>
          <p:cNvPr id="5" name="Rounded Rectangle 4"/>
          <p:cNvSpPr/>
          <p:nvPr/>
        </p:nvSpPr>
        <p:spPr>
          <a:xfrm>
            <a:off x="3474720" y="1554480"/>
            <a:ext cx="2468880" cy="1188720"/>
          </a:xfrm>
          <a:prstGeom prst="roundRect">
            <a:avLst/>
          </a:prstGeom>
          <a:solidFill>
            <a:srgbClr val="FFFFFF"/>
          </a:solidFill>
          <a:ln w="1905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tIns="137160"/>
          <a:lstStyle/>
          <a:p>
            <a:pPr algn="ctr">
              <a:defRPr sz="2800" b="1">
                <a:solidFill>
                  <a:srgbClr val="4F46E5"/>
                </a:solidFill>
              </a:defRPr>
            </a:pPr>
            <a:r>
              <a:t>2.3×</a:t>
            </a:r>
          </a:p>
          <a:p>
            <a:pPr algn="ctr">
              <a:defRPr sz="1100">
                <a:solidFill>
                  <a:srgbClr val="64748B"/>
                </a:solidFill>
              </a:defRPr>
            </a:pPr>
            <a:r>
              <a:t>Lift at Top 10% Capacity</a:t>
            </a:r>
          </a:p>
        </p:txBody>
      </p:sp>
      <p:sp>
        <p:nvSpPr>
          <p:cNvPr id="6" name="Rounded Rectangle 5"/>
          <p:cNvSpPr/>
          <p:nvPr/>
        </p:nvSpPr>
        <p:spPr>
          <a:xfrm>
            <a:off x="6217920" y="1554480"/>
            <a:ext cx="2468880" cy="118872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tIns="137160"/>
          <a:lstStyle/>
          <a:p>
            <a:pPr algn="ctr">
              <a:defRPr sz="2800" b="1">
                <a:solidFill>
                  <a:srgbClr val="D97706"/>
                </a:solidFill>
              </a:defRPr>
            </a:pPr>
            <a:r>
              <a:t>80%+</a:t>
            </a:r>
          </a:p>
          <a:p>
            <a:pPr algn="ctr">
              <a:defRPr sz="1100">
                <a:solidFill>
                  <a:srgbClr val="64748B"/>
                </a:solidFill>
              </a:defRPr>
            </a:pPr>
            <a:r>
              <a:t>Eventual Dropout Reached</a:t>
            </a:r>
          </a:p>
        </p:txBody>
      </p:sp>
      <p:sp>
        <p:nvSpPr>
          <p:cNvPr id="7" name="Rounded Rectangle 6"/>
          <p:cNvSpPr/>
          <p:nvPr/>
        </p:nvSpPr>
        <p:spPr>
          <a:xfrm>
            <a:off x="8961120" y="1554480"/>
            <a:ext cx="2468880" cy="118872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tIns="137160"/>
          <a:lstStyle/>
          <a:p>
            <a:pPr algn="ctr">
              <a:defRPr sz="2800" b="1">
                <a:solidFill>
                  <a:srgbClr val="0D9488"/>
                </a:solidFill>
              </a:defRPr>
            </a:pPr>
            <a:r>
              <a:t>100%</a:t>
            </a:r>
          </a:p>
          <a:p>
            <a:pPr algn="ctr">
              <a:defRPr sz="1100">
                <a:solidFill>
                  <a:srgbClr val="64748B"/>
                </a:solidFill>
              </a:defRPr>
            </a:pPr>
            <a:r>
              <a:t>Human-in-the-Loop Review</a:t>
            </a:r>
          </a:p>
        </p:txBody>
      </p:sp>
      <p:sp>
        <p:nvSpPr>
          <p:cNvPr id="8" name="Rounded Rectangle 7"/>
          <p:cNvSpPr/>
          <p:nvPr/>
        </p:nvSpPr>
        <p:spPr>
          <a:xfrm>
            <a:off x="731520" y="3017520"/>
            <a:ext cx="5120640" cy="3291840"/>
          </a:xfrm>
          <a:prstGeom prst="roundRect">
            <a:avLst/>
          </a:prstGeom>
          <a:solidFill>
            <a:srgbClr val="FFFFFF"/>
          </a:solidFill>
          <a:ln w="1905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164592" lIns="182880" rIns="182880"/>
          <a:lstStyle/>
          <a:p>
            <a:pPr algn="ctr">
              <a:spcAft>
                <a:spcPts val="800"/>
              </a:spcAft>
              <a:defRPr sz="1500" b="1">
                <a:solidFill>
                  <a:srgbClr val="1E293B"/>
                </a:solidFill>
              </a:defRPr>
            </a:pPr>
            <a:r>
              <a:t>Institutional Objectives</a:t>
            </a:r>
          </a:p>
          <a:p>
            <a:pPr>
              <a:spcAft>
                <a:spcPts val="400"/>
              </a:spcAft>
              <a:defRPr sz="1200">
                <a:solidFill>
                  <a:srgbClr val="1E293B"/>
                </a:solidFill>
              </a:defRPr>
            </a:pPr>
            <a:r>
              <a:t>• Proactive Retention: Shift institutional posture from reactive post-mortems to timely intervention.</a:t>
            </a:r>
          </a:p>
          <a:p>
            <a:pPr>
              <a:spcAft>
                <a:spcPts val="400"/>
              </a:spcAft>
              <a:defRPr sz="1200">
                <a:solidFill>
                  <a:srgbClr val="1E293B"/>
                </a:solidFill>
              </a:defRPr>
            </a:pPr>
            <a:r>
              <a:t>• Optimized Advisor Bandwidth: Rank cohort so advisors reach 80% of eventual dropouts by contacting top 20%.</a:t>
            </a:r>
          </a:p>
          <a:p>
            <a:pPr>
              <a:spcAft>
                <a:spcPts val="400"/>
              </a:spcAft>
              <a:defRPr sz="1200">
                <a:solidFill>
                  <a:srgbClr val="1E293B"/>
                </a:solidFill>
              </a:defRPr>
            </a:pPr>
            <a:r>
              <a:t>• Explainable Evidence: Every recommendation backed by TreeSHAP feature attributions and peer percentiles.</a:t>
            </a:r>
          </a:p>
          <a:p>
            <a:pPr>
              <a:spcAft>
                <a:spcPts val="400"/>
              </a:spcAft>
              <a:defRPr sz="1200">
                <a:solidFill>
                  <a:srgbClr val="1E293B"/>
                </a:solidFill>
              </a:defRPr>
            </a:pPr>
            <a:r>
              <a:t>• Continuous Learning: Closed-loop learning from advisor action ratings and real semester outcomes.</a:t>
            </a:r>
          </a:p>
        </p:txBody>
      </p:sp>
      <p:sp>
        <p:nvSpPr>
          <p:cNvPr id="9" name="Rounded Rectangle 8"/>
          <p:cNvSpPr/>
          <p:nvPr/>
        </p:nvSpPr>
        <p:spPr>
          <a:xfrm>
            <a:off x="6217920" y="3017520"/>
            <a:ext cx="5212080" cy="3291840"/>
          </a:xfrm>
          <a:prstGeom prst="roundRect">
            <a:avLst/>
          </a:prstGeom>
          <a:solidFill>
            <a:srgbClr val="FFFFFF"/>
          </a:solidFill>
          <a:ln w="1905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tIns="164592" lIns="182880" rIns="182880"/>
          <a:lstStyle/>
          <a:p>
            <a:pPr algn="ctr">
              <a:spcAft>
                <a:spcPts val="800"/>
              </a:spcAft>
              <a:defRPr sz="1500" b="1">
                <a:solidFill>
                  <a:srgbClr val="4F46E5"/>
                </a:solidFill>
              </a:defRPr>
            </a:pPr>
            <a:r>
              <a:t>Responsible AI Guardrails</a:t>
            </a:r>
          </a:p>
          <a:p>
            <a:pPr>
              <a:spcAft>
                <a:spcPts val="400"/>
              </a:spcAft>
              <a:defRPr sz="1200">
                <a:solidFill>
                  <a:srgbClr val="1E293B"/>
                </a:solidFill>
              </a:defRPr>
            </a:pPr>
            <a:r>
              <a:t>• Zero Sensitive Attribute Leakage: Gender, age, disability, region, and IMD excluded from models &amp; prompts.</a:t>
            </a:r>
          </a:p>
          <a:p>
            <a:pPr>
              <a:spcAft>
                <a:spcPts val="400"/>
              </a:spcAft>
              <a:defRPr sz="1200">
                <a:solidFill>
                  <a:srgbClr val="1E293B"/>
                </a:solidFill>
              </a:defRPr>
            </a:pPr>
            <a:r>
              <a:t>• Stigma &amp; Punitive Language Shield: Outreach messages never mention risk scores, predictions, or withdrawal.</a:t>
            </a:r>
          </a:p>
          <a:p>
            <a:pPr>
              <a:spcAft>
                <a:spcPts val="400"/>
              </a:spcAft>
              <a:defRPr sz="1200">
                <a:solidFill>
                  <a:srgbClr val="1E293B"/>
                </a:solidFill>
              </a:defRPr>
            </a:pPr>
            <a:r>
              <a:t>• Audited Equitable Recall: Quality gates monitor equal opportunity gaps across demographics.</a:t>
            </a:r>
          </a:p>
          <a:p>
            <a:pPr>
              <a:spcAft>
                <a:spcPts val="400"/>
              </a:spcAft>
              <a:defRPr sz="1200">
                <a:solidFill>
                  <a:srgbClr val="1E293B"/>
                </a:solidFill>
              </a:defRPr>
            </a:pPr>
            <a:r>
              <a:t>• Catalog-Gated Interventions: Action suggestions strictly selected from approved institutional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9144000" cy="365760"/>
          </a:xfrm>
          <a:prstGeom prst="rect">
            <a:avLst/>
          </a:prstGeom>
          <a:noFill/>
        </p:spPr>
        <p:txBody>
          <a:bodyPr wrap="square">
            <a:spAutoFit/>
          </a:bodyPr>
          <a:lstStyle/>
          <a:p>
            <a:pPr>
              <a:defRPr sz="1100" b="1">
                <a:solidFill>
                  <a:srgbClr val="0D9488"/>
                </a:solidFill>
              </a:defRPr>
            </a:pPr>
            <a:r>
              <a:t>DELIVERABLE 3</a:t>
            </a:r>
          </a:p>
        </p:txBody>
      </p:sp>
      <p:sp>
        <p:nvSpPr>
          <p:cNvPr id="3" name="TextBox 2"/>
          <p:cNvSpPr txBox="1"/>
          <p:nvPr/>
        </p:nvSpPr>
        <p:spPr>
          <a:xfrm>
            <a:off x="731520" y="640080"/>
            <a:ext cx="10515600" cy="731520"/>
          </a:xfrm>
          <a:prstGeom prst="rect">
            <a:avLst/>
          </a:prstGeom>
          <a:noFill/>
        </p:spPr>
        <p:txBody>
          <a:bodyPr wrap="square">
            <a:spAutoFit/>
          </a:bodyPr>
          <a:lstStyle/>
          <a:p>
            <a:pPr>
              <a:defRPr sz="2600" b="1">
                <a:solidFill>
                  <a:srgbClr val="1E293B"/>
                </a:solidFill>
              </a:defRPr>
            </a:pPr>
            <a:r>
              <a:t>3. Solution Overview</a:t>
            </a:r>
          </a:p>
        </p:txBody>
      </p:sp>
      <p:sp>
        <p:nvSpPr>
          <p:cNvPr id="4" name="Rounded Rectangle 3"/>
          <p:cNvSpPr/>
          <p:nvPr/>
        </p:nvSpPr>
        <p:spPr>
          <a:xfrm>
            <a:off x="731520" y="1645920"/>
            <a:ext cx="3383280" cy="457200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tIns="164592" lIns="182880" rIns="182880"/>
          <a:lstStyle/>
          <a:p>
            <a:pPr algn="ctr">
              <a:spcAft>
                <a:spcPts val="800"/>
              </a:spcAft>
              <a:defRPr sz="1500" b="1">
                <a:solidFill>
                  <a:srgbClr val="0D9488"/>
                </a:solidFill>
              </a:defRPr>
            </a:pPr>
            <a:r>
              <a:t>1. Calibrated Machine Learning</a:t>
            </a:r>
          </a:p>
          <a:p>
            <a:pPr>
              <a:spcAft>
                <a:spcPts val="400"/>
              </a:spcAft>
              <a:defRPr sz="1200">
                <a:solidFill>
                  <a:srgbClr val="1E293B"/>
                </a:solidFill>
              </a:defRPr>
            </a:pPr>
            <a:r>
              <a:t>• Temporal cutoffs at Weeks 6, 9, 15, and 22.</a:t>
            </a:r>
          </a:p>
          <a:p>
            <a:pPr>
              <a:spcAft>
                <a:spcPts val="400"/>
              </a:spcAft>
              <a:defRPr sz="1200">
                <a:solidFill>
                  <a:srgbClr val="1E293B"/>
                </a:solidFill>
              </a:defRPr>
            </a:pPr>
            <a:r>
              <a:t>• XGBoost &amp; HistGradientBoosting with missing-value support.</a:t>
            </a:r>
          </a:p>
          <a:p>
            <a:pPr>
              <a:spcAft>
                <a:spcPts val="400"/>
              </a:spcAft>
              <a:defRPr sz="1200">
                <a:solidFill>
                  <a:srgbClr val="1E293B"/>
                </a:solidFill>
              </a:defRPr>
            </a:pPr>
            <a:r>
              <a:t>• Leave-One-Presentation-Out Platt scaling for true probabilities.</a:t>
            </a:r>
          </a:p>
          <a:p>
            <a:pPr>
              <a:spcAft>
                <a:spcPts val="400"/>
              </a:spcAft>
              <a:defRPr sz="1200">
                <a:solidFill>
                  <a:srgbClr val="1E293B"/>
                </a:solidFill>
              </a:defRPr>
            </a:pPr>
            <a:r>
              <a:t>• Learned Risk Tiers: High (Urgent), Medium (Watch List), Low.</a:t>
            </a:r>
          </a:p>
          <a:p>
            <a:pPr>
              <a:spcAft>
                <a:spcPts val="400"/>
              </a:spcAft>
              <a:defRPr sz="1200">
                <a:solidFill>
                  <a:srgbClr val="1E293B"/>
                </a:solidFill>
              </a:defRPr>
            </a:pPr>
            <a:r>
              <a:t>• Exact TreeSHAP attributions per student.</a:t>
            </a:r>
          </a:p>
        </p:txBody>
      </p:sp>
      <p:sp>
        <p:nvSpPr>
          <p:cNvPr id="5" name="Rounded Rectangle 4"/>
          <p:cNvSpPr/>
          <p:nvPr/>
        </p:nvSpPr>
        <p:spPr>
          <a:xfrm>
            <a:off x="4389120" y="1645920"/>
            <a:ext cx="3383280" cy="4572000"/>
          </a:xfrm>
          <a:prstGeom prst="roundRect">
            <a:avLst/>
          </a:prstGeom>
          <a:solidFill>
            <a:srgbClr val="FFFFFF"/>
          </a:solidFill>
          <a:ln w="1905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tIns="164592" lIns="182880" rIns="182880"/>
          <a:lstStyle/>
          <a:p>
            <a:pPr algn="ctr">
              <a:spcAft>
                <a:spcPts val="800"/>
              </a:spcAft>
              <a:defRPr sz="1500" b="1">
                <a:solidFill>
                  <a:srgbClr val="4F46E5"/>
                </a:solidFill>
              </a:defRPr>
            </a:pPr>
            <a:r>
              <a:t>2. Hybrid RAG Case Retrieval</a:t>
            </a:r>
          </a:p>
          <a:p>
            <a:pPr>
              <a:spcAft>
                <a:spcPts val="400"/>
              </a:spcAft>
              <a:defRPr sz="1200">
                <a:solidFill>
                  <a:srgbClr val="1E293B"/>
                </a:solidFill>
              </a:defRPr>
            </a:pPr>
            <a:r>
              <a:t>• BM25 keyword search over discretized tokens.</a:t>
            </a:r>
          </a:p>
          <a:p>
            <a:pPr>
              <a:spcAft>
                <a:spcPts val="400"/>
              </a:spcAft>
              <a:defRPr sz="1200">
                <a:solidFill>
                  <a:srgbClr val="1E293B"/>
                </a:solidFill>
              </a:defRPr>
            </a:pPr>
            <a:r>
              <a:t>• Supervised kNN similarity weighted by SHAP feature importances.</a:t>
            </a:r>
          </a:p>
          <a:p>
            <a:pPr>
              <a:spcAft>
                <a:spcPts val="400"/>
              </a:spcAft>
              <a:defRPr sz="1200">
                <a:solidFill>
                  <a:srgbClr val="1E293B"/>
                </a:solidFill>
              </a:defRPr>
            </a:pPr>
            <a:r>
              <a:t>• Reciprocal Rank Fusion (RRF) combining lexical + behavioural channels.</a:t>
            </a:r>
          </a:p>
          <a:p>
            <a:pPr>
              <a:spcAft>
                <a:spcPts val="400"/>
              </a:spcAft>
              <a:defRPr sz="1200">
                <a:solidFill>
                  <a:srgbClr val="1E293B"/>
                </a:solidFill>
              </a:defRPr>
            </a:pPr>
            <a:r>
              <a:t>• Metadata filtering (course, region, age, credits, previous attempts).</a:t>
            </a:r>
          </a:p>
          <a:p>
            <a:pPr>
              <a:spcAft>
                <a:spcPts val="400"/>
              </a:spcAft>
              <a:defRPr sz="1200">
                <a:solidFill>
                  <a:srgbClr val="1E293B"/>
                </a:solidFill>
              </a:defRPr>
            </a:pPr>
            <a:r>
              <a:t>• Precedent cards with 'What happened next' trajectory stories.</a:t>
            </a:r>
          </a:p>
        </p:txBody>
      </p:sp>
      <p:sp>
        <p:nvSpPr>
          <p:cNvPr id="6" name="Rounded Rectangle 5"/>
          <p:cNvSpPr/>
          <p:nvPr/>
        </p:nvSpPr>
        <p:spPr>
          <a:xfrm>
            <a:off x="8046720" y="1645920"/>
            <a:ext cx="3383280" cy="457200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tIns="164592" lIns="182880" rIns="182880"/>
          <a:lstStyle/>
          <a:p>
            <a:pPr algn="ctr">
              <a:spcAft>
                <a:spcPts val="800"/>
              </a:spcAft>
              <a:defRPr sz="1500" b="1">
                <a:solidFill>
                  <a:srgbClr val="D97706"/>
                </a:solidFill>
              </a:defRPr>
            </a:pPr>
            <a:r>
              <a:t>3. Multi-Agent GenAI Workflow</a:t>
            </a:r>
          </a:p>
          <a:p>
            <a:pPr>
              <a:spcAft>
                <a:spcPts val="400"/>
              </a:spcAft>
              <a:defRPr sz="1200">
                <a:solidFill>
                  <a:srgbClr val="1E293B"/>
                </a:solidFill>
              </a:defRPr>
            </a:pPr>
            <a:r>
              <a:t>• Performance Analysis Agent computes trajectory facts.</a:t>
            </a:r>
          </a:p>
          <a:p>
            <a:pPr>
              <a:spcAft>
                <a:spcPts val="400"/>
              </a:spcAft>
              <a:defRPr sz="1200">
                <a:solidFill>
                  <a:srgbClr val="1E293B"/>
                </a:solidFill>
              </a:defRPr>
            </a:pPr>
            <a:r>
              <a:t>• Risk Assessment Agent diagnoses academic &amp; VLE vulnerabilities.</a:t>
            </a:r>
          </a:p>
          <a:p>
            <a:pPr>
              <a:spcAft>
                <a:spcPts val="400"/>
              </a:spcAft>
              <a:defRPr sz="1200">
                <a:solidFill>
                  <a:srgbClr val="1E293B"/>
                </a:solidFill>
              </a:defRPr>
            </a:pPr>
            <a:r>
              <a:t>• Intervention Agent selects institutional support actions.</a:t>
            </a:r>
          </a:p>
          <a:p>
            <a:pPr>
              <a:spcAft>
                <a:spcPts val="400"/>
              </a:spcAft>
              <a:defRPr sz="1200">
                <a:solidFill>
                  <a:srgbClr val="1E293B"/>
                </a:solidFill>
              </a:defRPr>
            </a:pPr>
            <a:r>
              <a:t>• Critic Agent validates guardrails, numbers, &amp; non-punitiveness.</a:t>
            </a:r>
          </a:p>
          <a:p>
            <a:pPr>
              <a:spcAft>
                <a:spcPts val="400"/>
              </a:spcAft>
              <a:defRPr sz="1200">
                <a:solidFill>
                  <a:srgbClr val="1E293B"/>
                </a:solidFill>
              </a:defRPr>
            </a:pPr>
            <a:r>
              <a:t>• Advisor Copilot with 8 verifiable tools.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9144000" cy="365760"/>
          </a:xfrm>
          <a:prstGeom prst="rect">
            <a:avLst/>
          </a:prstGeom>
          <a:noFill/>
        </p:spPr>
        <p:txBody>
          <a:bodyPr wrap="square">
            <a:spAutoFit/>
          </a:bodyPr>
          <a:lstStyle/>
          <a:p>
            <a:pPr>
              <a:defRPr sz="1100" b="1">
                <a:solidFill>
                  <a:srgbClr val="0D9488"/>
                </a:solidFill>
              </a:defRPr>
            </a:pPr>
            <a:r>
              <a:t>DELIVERABLE 4</a:t>
            </a:r>
          </a:p>
        </p:txBody>
      </p:sp>
      <p:sp>
        <p:nvSpPr>
          <p:cNvPr id="3" name="TextBox 2"/>
          <p:cNvSpPr txBox="1"/>
          <p:nvPr/>
        </p:nvSpPr>
        <p:spPr>
          <a:xfrm>
            <a:off x="731520" y="640080"/>
            <a:ext cx="10515600" cy="731520"/>
          </a:xfrm>
          <a:prstGeom prst="rect">
            <a:avLst/>
          </a:prstGeom>
          <a:noFill/>
        </p:spPr>
        <p:txBody>
          <a:bodyPr wrap="square">
            <a:spAutoFit/>
          </a:bodyPr>
          <a:lstStyle/>
          <a:p>
            <a:pPr>
              <a:defRPr sz="2600" b="1">
                <a:solidFill>
                  <a:srgbClr val="1E293B"/>
                </a:solidFill>
              </a:defRPr>
            </a:pPr>
            <a:r>
              <a:t>4. Architecture</a:t>
            </a:r>
          </a:p>
        </p:txBody>
      </p:sp>
      <p:pic>
        <p:nvPicPr>
          <p:cNvPr id="4" name="Picture 3" descr="architecture.png"/>
          <p:cNvPicPr>
            <a:picLocks noChangeAspect="1"/>
          </p:cNvPicPr>
          <p:nvPr/>
        </p:nvPicPr>
        <p:blipFill>
          <a:blip r:embed="rId2"/>
          <a:stretch>
            <a:fillRect/>
          </a:stretch>
        </p:blipFill>
        <p:spPr>
          <a:xfrm>
            <a:off x="731520" y="1645920"/>
            <a:ext cx="7132320" cy="4201230"/>
          </a:xfrm>
          <a:prstGeom prst="rect">
            <a:avLst/>
          </a:prstGeom>
        </p:spPr>
      </p:pic>
      <p:sp>
        <p:nvSpPr>
          <p:cNvPr id="5" name="Rounded Rectangle 4"/>
          <p:cNvSpPr/>
          <p:nvPr/>
        </p:nvSpPr>
        <p:spPr>
          <a:xfrm>
            <a:off x="8138160" y="1645920"/>
            <a:ext cx="3383280" cy="4572000"/>
          </a:xfrm>
          <a:prstGeom prst="roundRect">
            <a:avLst/>
          </a:prstGeom>
          <a:solidFill>
            <a:srgbClr val="FFFFFF"/>
          </a:solidFill>
          <a:ln w="1905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164592" lIns="182880" rIns="182880"/>
          <a:lstStyle/>
          <a:p>
            <a:pPr algn="ctr">
              <a:spcAft>
                <a:spcPts val="800"/>
              </a:spcAft>
              <a:defRPr sz="1500" b="1">
                <a:solidFill>
                  <a:srgbClr val="1E293B"/>
                </a:solidFill>
              </a:defRPr>
            </a:pPr>
            <a:r>
              <a:t>Architectural Principles</a:t>
            </a:r>
          </a:p>
          <a:p>
            <a:pPr>
              <a:spcAft>
                <a:spcPts val="400"/>
              </a:spcAft>
              <a:defRPr sz="1200">
                <a:solidFill>
                  <a:srgbClr val="1E293B"/>
                </a:solidFill>
              </a:defRPr>
            </a:pPr>
            <a:r>
              <a:t>• Modular Decoupling: Deterministic code computes facts; LLM only narrates.</a:t>
            </a:r>
          </a:p>
          <a:p>
            <a:pPr>
              <a:spcAft>
                <a:spcPts val="400"/>
              </a:spcAft>
              <a:defRPr sz="1200">
                <a:solidFill>
                  <a:srgbClr val="1E293B"/>
                </a:solidFill>
              </a:defRPr>
            </a:pPr>
            <a:r>
              <a:t>• Full Executable Microservice: Single FastAPI backend serving REST APIs + React console.</a:t>
            </a:r>
          </a:p>
          <a:p>
            <a:pPr>
              <a:spcAft>
                <a:spcPts val="400"/>
              </a:spcAft>
              <a:defRPr sz="1200">
                <a:solidFill>
                  <a:srgbClr val="1E293B"/>
                </a:solidFill>
              </a:defRPr>
            </a:pPr>
            <a:r>
              <a:t>• Streamlit &amp; React UIs: Interactive Streamlit app (frontend.py) for local evaluation.</a:t>
            </a:r>
          </a:p>
          <a:p>
            <a:pPr>
              <a:spcAft>
                <a:spcPts val="400"/>
              </a:spcAft>
              <a:defRPr sz="1200">
                <a:solidFill>
                  <a:srgbClr val="1E293B"/>
                </a:solidFill>
              </a:defRPr>
            </a:pPr>
            <a:r>
              <a:t>• Robust In-Memory Index: Fast kNN &amp; BM25 retrieval without heavyweight external server overhead.</a:t>
            </a:r>
          </a:p>
          <a:p>
            <a:pPr>
              <a:spcAft>
                <a:spcPts val="400"/>
              </a:spcAft>
              <a:defRPr sz="1200">
                <a:solidFill>
                  <a:srgbClr val="1E293B"/>
                </a:solidFill>
              </a:defRPr>
            </a:pPr>
            <a:r>
              <a:t>• Traceable Audit Trail: SQLite stores recommendations, advisor ratings, and feedback proposals.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9144000" cy="365760"/>
          </a:xfrm>
          <a:prstGeom prst="rect">
            <a:avLst/>
          </a:prstGeom>
          <a:noFill/>
        </p:spPr>
        <p:txBody>
          <a:bodyPr wrap="square">
            <a:spAutoFit/>
          </a:bodyPr>
          <a:lstStyle/>
          <a:p>
            <a:pPr>
              <a:defRPr sz="1100" b="1">
                <a:solidFill>
                  <a:srgbClr val="0D9488"/>
                </a:solidFill>
              </a:defRPr>
            </a:pPr>
            <a:r>
              <a:t>DELIVERABLE 5</a:t>
            </a:r>
          </a:p>
        </p:txBody>
      </p:sp>
      <p:sp>
        <p:nvSpPr>
          <p:cNvPr id="3" name="TextBox 2"/>
          <p:cNvSpPr txBox="1"/>
          <p:nvPr/>
        </p:nvSpPr>
        <p:spPr>
          <a:xfrm>
            <a:off x="731520" y="640080"/>
            <a:ext cx="10515600" cy="731520"/>
          </a:xfrm>
          <a:prstGeom prst="rect">
            <a:avLst/>
          </a:prstGeom>
          <a:noFill/>
        </p:spPr>
        <p:txBody>
          <a:bodyPr wrap="square">
            <a:spAutoFit/>
          </a:bodyPr>
          <a:lstStyle/>
          <a:p>
            <a:pPr>
              <a:defRPr sz="2600" b="1">
                <a:solidFill>
                  <a:srgbClr val="1E293B"/>
                </a:solidFill>
              </a:defRPr>
            </a:pPr>
            <a:r>
              <a:t>5. Data Flow &amp; Temporal Protocol</a:t>
            </a:r>
          </a:p>
        </p:txBody>
      </p:sp>
      <p:sp>
        <p:nvSpPr>
          <p:cNvPr id="4" name="Rounded Rectangle 3"/>
          <p:cNvSpPr/>
          <p:nvPr/>
        </p:nvSpPr>
        <p:spPr>
          <a:xfrm>
            <a:off x="731520" y="1645920"/>
            <a:ext cx="5120640" cy="457200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tIns="164592" lIns="182880" rIns="182880"/>
          <a:lstStyle/>
          <a:p>
            <a:pPr algn="ctr">
              <a:spcAft>
                <a:spcPts val="800"/>
              </a:spcAft>
              <a:defRPr sz="1500" b="1">
                <a:solidFill>
                  <a:srgbClr val="0D9488"/>
                </a:solidFill>
              </a:defRPr>
            </a:pPr>
            <a:r>
              <a:t>Offline Build Data Flow</a:t>
            </a:r>
          </a:p>
          <a:p>
            <a:pPr>
              <a:spcAft>
                <a:spcPts val="400"/>
              </a:spcAft>
              <a:defRPr sz="1200">
                <a:solidFill>
                  <a:srgbClr val="1E293B"/>
                </a:solidFill>
              </a:defRPr>
            </a:pPr>
            <a:r>
              <a:t>• 1. Ingestion: 7 relational CSVs ingested from OULAD (32.5k enrolments).</a:t>
            </a:r>
          </a:p>
          <a:p>
            <a:pPr>
              <a:spcAft>
                <a:spcPts val="400"/>
              </a:spcAft>
              <a:defRPr sz="1200">
                <a:solidFill>
                  <a:srgbClr val="1E293B"/>
                </a:solidFill>
              </a:defRPr>
            </a:pPr>
            <a:r>
              <a:t>• 2. Checkpoint Slicing: Snapshot at 15%, 25%, 40%, 60% of planned presentation length.</a:t>
            </a:r>
          </a:p>
          <a:p>
            <a:pPr>
              <a:spcAft>
                <a:spcPts val="400"/>
              </a:spcAft>
              <a:defRPr sz="1200">
                <a:solidFill>
                  <a:srgbClr val="1E293B"/>
                </a:solidFill>
              </a:defRPr>
            </a:pPr>
            <a:r>
              <a:t>• 3. In-Scope Scoping: Students unregistering before cutoff flagged and excluded.</a:t>
            </a:r>
          </a:p>
          <a:p>
            <a:pPr>
              <a:spcAft>
                <a:spcPts val="400"/>
              </a:spcAft>
              <a:defRPr sz="1200">
                <a:solidFill>
                  <a:srgbClr val="1E293B"/>
                </a:solidFill>
              </a:defRPr>
            </a:pPr>
            <a:r>
              <a:t>• 4. Feature Engineering: 40+ academic &amp; VLE clickstream features + weekly engagement grid.</a:t>
            </a:r>
          </a:p>
          <a:p>
            <a:pPr>
              <a:spcAft>
                <a:spcPts val="400"/>
              </a:spcAft>
              <a:defRPr sz="1200">
                <a:solidFill>
                  <a:srgbClr val="1E293B"/>
                </a:solidFill>
              </a:defRPr>
            </a:pPr>
            <a:r>
              <a:t>• 5. Leave-One-Presentation-Out Splitting: Train on earlier cohorts, test on untouched 2014J.</a:t>
            </a:r>
          </a:p>
          <a:p>
            <a:pPr>
              <a:spcAft>
                <a:spcPts val="400"/>
              </a:spcAft>
              <a:defRPr sz="1200">
                <a:solidFill>
                  <a:srgbClr val="1E293B"/>
                </a:solidFill>
              </a:defRPr>
            </a:pPr>
            <a:r>
              <a:t>• 6. Index Compilation: Build supervised kNN index &amp; BM25 descriptor dictionary.</a:t>
            </a:r>
          </a:p>
        </p:txBody>
      </p:sp>
      <p:sp>
        <p:nvSpPr>
          <p:cNvPr id="5" name="Rounded Rectangle 4"/>
          <p:cNvSpPr/>
          <p:nvPr/>
        </p:nvSpPr>
        <p:spPr>
          <a:xfrm>
            <a:off x="6217920" y="1645920"/>
            <a:ext cx="5212080" cy="4572000"/>
          </a:xfrm>
          <a:prstGeom prst="roundRect">
            <a:avLst/>
          </a:prstGeom>
          <a:solidFill>
            <a:srgbClr val="FFFFFF"/>
          </a:solidFill>
          <a:ln w="1905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tIns="164592" lIns="182880" rIns="182880"/>
          <a:lstStyle/>
          <a:p>
            <a:pPr algn="ctr">
              <a:spcAft>
                <a:spcPts val="800"/>
              </a:spcAft>
              <a:defRPr sz="1500" b="1">
                <a:solidFill>
                  <a:srgbClr val="4F46E5"/>
                </a:solidFill>
              </a:defRPr>
            </a:pPr>
            <a:r>
              <a:t>Online Inference Data Flow</a:t>
            </a:r>
          </a:p>
          <a:p>
            <a:pPr>
              <a:spcAft>
                <a:spcPts val="400"/>
              </a:spcAft>
              <a:defRPr sz="1200">
                <a:solidFill>
                  <a:srgbClr val="1E293B"/>
                </a:solidFill>
              </a:defRPr>
            </a:pPr>
            <a:r>
              <a:t>• 1. Request Received: API key validation &amp; token-bucket rate limiter.</a:t>
            </a:r>
          </a:p>
          <a:p>
            <a:pPr>
              <a:spcAft>
                <a:spcPts val="400"/>
              </a:spcAft>
              <a:defRPr sz="1200">
                <a:solidFill>
                  <a:srgbClr val="1E293B"/>
                </a:solidFill>
              </a:defRPr>
            </a:pPr>
            <a:r>
              <a:t>• 2. Profile Resolution: Fetch real snapshot from store or impute module medians.</a:t>
            </a:r>
          </a:p>
          <a:p>
            <a:pPr>
              <a:spcAft>
                <a:spcPts val="400"/>
              </a:spcAft>
              <a:defRPr sz="1200">
                <a:solidFill>
                  <a:srgbClr val="1E293B"/>
                </a:solidFill>
              </a:defRPr>
            </a:pPr>
            <a:r>
              <a:t>• 3. Model Scoring: Fast ~50ms calibrated risk prediction &amp; TreeSHAP driver extraction.</a:t>
            </a:r>
          </a:p>
          <a:p>
            <a:pPr>
              <a:spcAft>
                <a:spcPts val="400"/>
              </a:spcAft>
              <a:defRPr sz="1200">
                <a:solidFill>
                  <a:srgbClr val="1E293B"/>
                </a:solidFill>
              </a:defRPr>
            </a:pPr>
            <a:r>
              <a:t>• 4. Hybrid Retrieval: RRF retrieves 50 nearest precedents from earlier presentations only.</a:t>
            </a:r>
          </a:p>
          <a:p>
            <a:pPr>
              <a:spcAft>
                <a:spcPts val="400"/>
              </a:spcAft>
              <a:defRPr sz="1200">
                <a:solidFill>
                  <a:srgbClr val="1E293B"/>
                </a:solidFill>
              </a:defRPr>
            </a:pPr>
            <a:r>
              <a:t>• 5. Agent Assembly: Shared state populated; Performance -&gt; Risk -&gt; Router -&gt; Intervention.</a:t>
            </a:r>
          </a:p>
          <a:p>
            <a:pPr>
              <a:spcAft>
                <a:spcPts val="400"/>
              </a:spcAft>
              <a:defRPr sz="1200">
                <a:solidFill>
                  <a:srgbClr val="1E293B"/>
                </a:solidFill>
              </a:defRPr>
            </a:pPr>
            <a:r>
              <a:t>• 6. Critic Gate: Code verifies non-punitiveness, numeric grounding, &amp; catalog compliance.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9144000" cy="365760"/>
          </a:xfrm>
          <a:prstGeom prst="rect">
            <a:avLst/>
          </a:prstGeom>
          <a:noFill/>
        </p:spPr>
        <p:txBody>
          <a:bodyPr wrap="square">
            <a:spAutoFit/>
          </a:bodyPr>
          <a:lstStyle/>
          <a:p>
            <a:pPr>
              <a:defRPr sz="1100" b="1">
                <a:solidFill>
                  <a:srgbClr val="0D9488"/>
                </a:solidFill>
              </a:defRPr>
            </a:pPr>
            <a:r>
              <a:t>DELIVERABLE 6</a:t>
            </a:r>
          </a:p>
        </p:txBody>
      </p:sp>
      <p:sp>
        <p:nvSpPr>
          <p:cNvPr id="3" name="TextBox 2"/>
          <p:cNvSpPr txBox="1"/>
          <p:nvPr/>
        </p:nvSpPr>
        <p:spPr>
          <a:xfrm>
            <a:off x="731520" y="640080"/>
            <a:ext cx="10515600" cy="731520"/>
          </a:xfrm>
          <a:prstGeom prst="rect">
            <a:avLst/>
          </a:prstGeom>
          <a:noFill/>
        </p:spPr>
        <p:txBody>
          <a:bodyPr wrap="square">
            <a:spAutoFit/>
          </a:bodyPr>
          <a:lstStyle/>
          <a:p>
            <a:pPr>
              <a:defRPr sz="2600" b="1">
                <a:solidFill>
                  <a:srgbClr val="1E293B"/>
                </a:solidFill>
              </a:defRPr>
            </a:pPr>
            <a:r>
              <a:t>6. Technology Stack &amp; Framework Justification</a:t>
            </a:r>
          </a:p>
        </p:txBody>
      </p:sp>
      <p:sp>
        <p:nvSpPr>
          <p:cNvPr id="4" name="Rounded Rectangle 3"/>
          <p:cNvSpPr/>
          <p:nvPr/>
        </p:nvSpPr>
        <p:spPr>
          <a:xfrm>
            <a:off x="731520" y="1645920"/>
            <a:ext cx="3383280" cy="457200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tIns="164592" lIns="182880" rIns="182880"/>
          <a:lstStyle/>
          <a:p>
            <a:pPr algn="ctr">
              <a:spcAft>
                <a:spcPts val="800"/>
              </a:spcAft>
              <a:defRPr sz="1500" b="1">
                <a:solidFill>
                  <a:srgbClr val="0D9488"/>
                </a:solidFill>
              </a:defRPr>
            </a:pPr>
            <a:r>
              <a:t>Core Machine Learning</a:t>
            </a:r>
          </a:p>
          <a:p>
            <a:pPr>
              <a:spcAft>
                <a:spcPts val="400"/>
              </a:spcAft>
              <a:defRPr sz="1200">
                <a:solidFill>
                  <a:srgbClr val="1E293B"/>
                </a:solidFill>
              </a:defRPr>
            </a:pPr>
            <a:r>
              <a:t>• Language: Python 3.10+</a:t>
            </a:r>
          </a:p>
          <a:p>
            <a:pPr>
              <a:spcAft>
                <a:spcPts val="400"/>
              </a:spcAft>
              <a:defRPr sz="1200">
                <a:solidFill>
                  <a:srgbClr val="1E293B"/>
                </a:solidFill>
              </a:defRPr>
            </a:pPr>
            <a:r>
              <a:t>• Engines: Scikit-learn HistGradientBoosting &amp; XGBoost</a:t>
            </a:r>
          </a:p>
          <a:p>
            <a:pPr>
              <a:spcAft>
                <a:spcPts val="400"/>
              </a:spcAft>
              <a:defRPr sz="1200">
                <a:solidFill>
                  <a:srgbClr val="1E293B"/>
                </a:solidFill>
              </a:defRPr>
            </a:pPr>
            <a:r>
              <a:t>• Calibration: Platt Scaling (LOPO out-of-fold)</a:t>
            </a:r>
          </a:p>
          <a:p>
            <a:pPr>
              <a:spcAft>
                <a:spcPts val="400"/>
              </a:spcAft>
              <a:defRPr sz="1200">
                <a:solidFill>
                  <a:srgbClr val="1E293B"/>
                </a:solidFill>
              </a:defRPr>
            </a:pPr>
            <a:r>
              <a:t>• Explainability: TreeSHAP (SHAP library)</a:t>
            </a:r>
          </a:p>
          <a:p>
            <a:pPr>
              <a:spcAft>
                <a:spcPts val="400"/>
              </a:spcAft>
              <a:defRPr sz="1200">
                <a:solidFill>
                  <a:srgbClr val="1E293B"/>
                </a:solidFill>
              </a:defRPr>
            </a:pPr>
            <a:r>
              <a:t>• Ranking: Simplex search for precision@capacity</a:t>
            </a:r>
          </a:p>
        </p:txBody>
      </p:sp>
      <p:sp>
        <p:nvSpPr>
          <p:cNvPr id="5" name="Rounded Rectangle 4"/>
          <p:cNvSpPr/>
          <p:nvPr/>
        </p:nvSpPr>
        <p:spPr>
          <a:xfrm>
            <a:off x="4389120" y="1645920"/>
            <a:ext cx="3383280" cy="4572000"/>
          </a:xfrm>
          <a:prstGeom prst="roundRect">
            <a:avLst/>
          </a:prstGeom>
          <a:solidFill>
            <a:srgbClr val="FFFFFF"/>
          </a:solidFill>
          <a:ln w="1905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tIns="164592" lIns="182880" rIns="182880"/>
          <a:lstStyle/>
          <a:p>
            <a:pPr algn="ctr">
              <a:spcAft>
                <a:spcPts val="800"/>
              </a:spcAft>
              <a:defRPr sz="1500" b="1">
                <a:solidFill>
                  <a:srgbClr val="4F46E5"/>
                </a:solidFill>
              </a:defRPr>
            </a:pPr>
            <a:r>
              <a:t>RAG, Retrieval &amp; LLM</a:t>
            </a:r>
          </a:p>
          <a:p>
            <a:pPr>
              <a:spcAft>
                <a:spcPts val="400"/>
              </a:spcAft>
              <a:defRPr sz="1200">
                <a:solidFill>
                  <a:srgbClr val="1E293B"/>
                </a:solidFill>
              </a:defRPr>
            </a:pPr>
            <a:r>
              <a:t>• Lexical Search: BM25 (rank_bm25)</a:t>
            </a:r>
          </a:p>
          <a:p>
            <a:pPr>
              <a:spcAft>
                <a:spcPts val="400"/>
              </a:spcAft>
              <a:defRPr sz="1200">
                <a:solidFill>
                  <a:srgbClr val="1E293B"/>
                </a:solidFill>
              </a:defRPr>
            </a:pPr>
            <a:r>
              <a:t>• Dense/Vector: Supervised kNN + Sentence-Transformers</a:t>
            </a:r>
          </a:p>
          <a:p>
            <a:pPr>
              <a:spcAft>
                <a:spcPts val="400"/>
              </a:spcAft>
              <a:defRPr sz="1200">
                <a:solidFill>
                  <a:srgbClr val="1E293B"/>
                </a:solidFill>
              </a:defRPr>
            </a:pPr>
            <a:r>
              <a:t>• Fusion: Reciprocal Rank Fusion (RRF)</a:t>
            </a:r>
          </a:p>
          <a:p>
            <a:pPr>
              <a:spcAft>
                <a:spcPts val="400"/>
              </a:spcAft>
              <a:defRPr sz="1200">
                <a:solidFill>
                  <a:srgbClr val="1E293B"/>
                </a:solidFill>
              </a:defRPr>
            </a:pPr>
            <a:r>
              <a:t>• LLM Interface: Any OpenAI-compatible endpoint (GPT-4o/mini, local Ollama)</a:t>
            </a:r>
          </a:p>
          <a:p>
            <a:pPr>
              <a:spcAft>
                <a:spcPts val="400"/>
              </a:spcAft>
              <a:defRPr sz="1200">
                <a:solidFill>
                  <a:srgbClr val="1E293B"/>
                </a:solidFill>
              </a:defRPr>
            </a:pPr>
            <a:r>
              <a:t>• Evaluation: DeepEval, RAGAS, LLM-as-Judge</a:t>
            </a:r>
          </a:p>
        </p:txBody>
      </p:sp>
      <p:sp>
        <p:nvSpPr>
          <p:cNvPr id="6" name="Rounded Rectangle 5"/>
          <p:cNvSpPr/>
          <p:nvPr/>
        </p:nvSpPr>
        <p:spPr>
          <a:xfrm>
            <a:off x="8046720" y="1645920"/>
            <a:ext cx="3383280" cy="457200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tIns="164592" lIns="182880" rIns="182880"/>
          <a:lstStyle/>
          <a:p>
            <a:pPr algn="ctr">
              <a:spcAft>
                <a:spcPts val="800"/>
              </a:spcAft>
              <a:defRPr sz="1500" b="1">
                <a:solidFill>
                  <a:srgbClr val="D97706"/>
                </a:solidFill>
              </a:defRPr>
            </a:pPr>
            <a:r>
              <a:t>Serving, DB &amp; Frontend</a:t>
            </a:r>
          </a:p>
          <a:p>
            <a:pPr>
              <a:spcAft>
                <a:spcPts val="400"/>
              </a:spcAft>
              <a:defRPr sz="1200">
                <a:solidFill>
                  <a:srgbClr val="1E293B"/>
                </a:solidFill>
              </a:defRPr>
            </a:pPr>
            <a:r>
              <a:t>• Backend: FastAPI + Uvicorn (REST API)</a:t>
            </a:r>
          </a:p>
          <a:p>
            <a:pPr>
              <a:spcAft>
                <a:spcPts val="400"/>
              </a:spcAft>
              <a:defRPr sz="1200">
                <a:solidFill>
                  <a:srgbClr val="1E293B"/>
                </a:solidFill>
              </a:defRPr>
            </a:pPr>
            <a:r>
              <a:t>• Validation: Pydantic v2 strict typing</a:t>
            </a:r>
          </a:p>
          <a:p>
            <a:pPr>
              <a:spcAft>
                <a:spcPts val="400"/>
              </a:spcAft>
              <a:defRPr sz="1200">
                <a:solidFill>
                  <a:srgbClr val="1E293B"/>
                </a:solidFill>
              </a:defRPr>
            </a:pPr>
            <a:r>
              <a:t>• Storage: SQLite (audit ledger &amp; feedback loop)</a:t>
            </a:r>
          </a:p>
          <a:p>
            <a:pPr>
              <a:spcAft>
                <a:spcPts val="400"/>
              </a:spcAft>
              <a:defRPr sz="1200">
                <a:solidFill>
                  <a:srgbClr val="1E293B"/>
                </a:solidFill>
              </a:defRPr>
            </a:pPr>
            <a:r>
              <a:t>• Frontend 1: Streamlit (interactive frontend.py)</a:t>
            </a:r>
          </a:p>
          <a:p>
            <a:pPr>
              <a:spcAft>
                <a:spcPts val="400"/>
              </a:spcAft>
              <a:defRPr sz="1200">
                <a:solidFill>
                  <a:srgbClr val="1E293B"/>
                </a:solidFill>
              </a:defRPr>
            </a:pPr>
            <a:r>
              <a:t>• Frontend 2: React 18 + Vite (executive console)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9144000" cy="365760"/>
          </a:xfrm>
          <a:prstGeom prst="rect">
            <a:avLst/>
          </a:prstGeom>
          <a:noFill/>
        </p:spPr>
        <p:txBody>
          <a:bodyPr wrap="square">
            <a:spAutoFit/>
          </a:bodyPr>
          <a:lstStyle/>
          <a:p>
            <a:pPr>
              <a:defRPr sz="1100" b="1">
                <a:solidFill>
                  <a:srgbClr val="0D9488"/>
                </a:solidFill>
              </a:defRPr>
            </a:pPr>
            <a:r>
              <a:t>DELIVERABLE 7</a:t>
            </a:r>
          </a:p>
        </p:txBody>
      </p:sp>
      <p:sp>
        <p:nvSpPr>
          <p:cNvPr id="3" name="TextBox 2"/>
          <p:cNvSpPr txBox="1"/>
          <p:nvPr/>
        </p:nvSpPr>
        <p:spPr>
          <a:xfrm>
            <a:off x="731520" y="640080"/>
            <a:ext cx="10515600" cy="731520"/>
          </a:xfrm>
          <a:prstGeom prst="rect">
            <a:avLst/>
          </a:prstGeom>
          <a:noFill/>
        </p:spPr>
        <p:txBody>
          <a:bodyPr wrap="square">
            <a:spAutoFit/>
          </a:bodyPr>
          <a:lstStyle/>
          <a:p>
            <a:pPr>
              <a:defRPr sz="2600" b="1">
                <a:solidFill>
                  <a:srgbClr val="1E293B"/>
                </a:solidFill>
              </a:defRPr>
            </a:pPr>
            <a:r>
              <a:t>7. Multi-Agent Workflow &amp; Guardrails</a:t>
            </a:r>
          </a:p>
        </p:txBody>
      </p:sp>
      <p:sp>
        <p:nvSpPr>
          <p:cNvPr id="4" name="Rounded Rectangle 3"/>
          <p:cNvSpPr/>
          <p:nvPr/>
        </p:nvSpPr>
        <p:spPr>
          <a:xfrm>
            <a:off x="731520" y="1645920"/>
            <a:ext cx="5120640" cy="457200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tIns="164592" lIns="182880" rIns="182880"/>
          <a:lstStyle/>
          <a:p>
            <a:pPr algn="ctr">
              <a:spcAft>
                <a:spcPts val="800"/>
              </a:spcAft>
              <a:defRPr sz="1500" b="1">
                <a:solidFill>
                  <a:srgbClr val="0D9488"/>
                </a:solidFill>
              </a:defRPr>
            </a:pPr>
            <a:r>
              <a:t>Agent Roles &amp; Communication</a:t>
            </a:r>
          </a:p>
          <a:p>
            <a:pPr>
              <a:spcAft>
                <a:spcPts val="400"/>
              </a:spcAft>
              <a:defRPr sz="1200">
                <a:solidFill>
                  <a:srgbClr val="1E293B"/>
                </a:solidFill>
              </a:defRPr>
            </a:pPr>
            <a:r>
              <a:t>• Performance Analysis Agent: Ingests snapshot; assesses assessment submission slope, score trends, and active days.</a:t>
            </a:r>
          </a:p>
          <a:p>
            <a:pPr>
              <a:spcAft>
                <a:spcPts val="400"/>
              </a:spcAft>
              <a:defRPr sz="1200">
                <a:solidFill>
                  <a:srgbClr val="1E293B"/>
                </a:solidFill>
              </a:defRPr>
            </a:pPr>
            <a:r>
              <a:t>• Risk Assessment Agent: Synthesizes calibrated withdrawal probability, TreeSHAP drivers, and peer quintiles.</a:t>
            </a:r>
          </a:p>
          <a:p>
            <a:pPr>
              <a:spcAft>
                <a:spcPts val="400"/>
              </a:spcAft>
              <a:defRPr sz="1200">
                <a:solidFill>
                  <a:srgbClr val="1E293B"/>
                </a:solidFill>
              </a:defRPr>
            </a:pPr>
            <a:r>
              <a:t>• Routing Agent: Routes low-risk students to automated Monitoring; routes High/Medium risk to Intervention.</a:t>
            </a:r>
          </a:p>
          <a:p>
            <a:pPr>
              <a:spcAft>
                <a:spcPts val="400"/>
              </a:spcAft>
              <a:defRPr sz="1200">
                <a:solidFill>
                  <a:srgbClr val="1E293B"/>
                </a:solidFill>
              </a:defRPr>
            </a:pPr>
            <a:r>
              <a:t>• Intervention Agent: Selects 2-4 appropriate support programs from institutional action catalog.</a:t>
            </a:r>
          </a:p>
          <a:p>
            <a:pPr>
              <a:spcAft>
                <a:spcPts val="400"/>
              </a:spcAft>
              <a:defRPr sz="1200">
                <a:solidFill>
                  <a:srgbClr val="1E293B"/>
                </a:solidFill>
              </a:defRPr>
            </a:pPr>
            <a:r>
              <a:t>• Critic Agent: Performs automated code-level sanity checks before surfacing plans to advisors.</a:t>
            </a:r>
          </a:p>
        </p:txBody>
      </p:sp>
      <p:sp>
        <p:nvSpPr>
          <p:cNvPr id="5" name="Rounded Rectangle 4"/>
          <p:cNvSpPr/>
          <p:nvPr/>
        </p:nvSpPr>
        <p:spPr>
          <a:xfrm>
            <a:off x="6217920" y="1645920"/>
            <a:ext cx="5212080" cy="457200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tIns="164592" lIns="182880" rIns="182880"/>
          <a:lstStyle/>
          <a:p>
            <a:pPr algn="ctr">
              <a:spcAft>
                <a:spcPts val="800"/>
              </a:spcAft>
              <a:defRPr sz="1500" b="1">
                <a:solidFill>
                  <a:srgbClr val="D97706"/>
                </a:solidFill>
              </a:defRPr>
            </a:pPr>
            <a:r>
              <a:t>Code Guardrails &amp; Safety</a:t>
            </a:r>
          </a:p>
          <a:p>
            <a:pPr>
              <a:spcAft>
                <a:spcPts val="400"/>
              </a:spcAft>
              <a:defRPr sz="1200">
                <a:solidFill>
                  <a:srgbClr val="1E293B"/>
                </a:solidFill>
              </a:defRPr>
            </a:pPr>
            <a:r>
              <a:t>• Numeric Grounding: Every cited number must exist in snapshot data; hallucinations are rejected immediately.</a:t>
            </a:r>
          </a:p>
          <a:p>
            <a:pPr>
              <a:spcAft>
                <a:spcPts val="400"/>
              </a:spcAft>
              <a:defRPr sz="1200">
                <a:solidFill>
                  <a:srgbClr val="1E293B"/>
                </a:solidFill>
              </a:defRPr>
            </a:pPr>
            <a:r>
              <a:t>• Non-Punitive Enforcement: Blocks terms like 'sanction', 'penalty', 'probation', 'threat', or 'fail you'.</a:t>
            </a:r>
          </a:p>
          <a:p>
            <a:pPr>
              <a:spcAft>
                <a:spcPts val="400"/>
              </a:spcAft>
              <a:defRPr sz="1200">
                <a:solidFill>
                  <a:srgbClr val="1E293B"/>
                </a:solidFill>
              </a:defRPr>
            </a:pPr>
            <a:r>
              <a:t>• No Sensitive Feature Reasoning: Prompts strictly forbid mentioning gender, age, disability, or region.</a:t>
            </a:r>
          </a:p>
          <a:p>
            <a:pPr>
              <a:spcAft>
                <a:spcPts val="400"/>
              </a:spcAft>
              <a:defRPr sz="1200">
                <a:solidFill>
                  <a:srgbClr val="1E293B"/>
                </a:solidFill>
              </a:defRPr>
            </a:pPr>
            <a:r>
              <a:t>• Revision Loop: Critic allows 1 automated revision; if still failing, falls back to deterministic expert plan.</a:t>
            </a:r>
          </a:p>
          <a:p>
            <a:pPr>
              <a:spcAft>
                <a:spcPts val="400"/>
              </a:spcAft>
              <a:defRPr sz="1200">
                <a:solidFill>
                  <a:srgbClr val="1E293B"/>
                </a:solidFill>
              </a:defRPr>
            </a:pPr>
            <a:r>
              <a:t>• Human Approval: Advisors inspect and accept/reject every plan before contacting students.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9144000" cy="365760"/>
          </a:xfrm>
          <a:prstGeom prst="rect">
            <a:avLst/>
          </a:prstGeom>
          <a:noFill/>
        </p:spPr>
        <p:txBody>
          <a:bodyPr wrap="square">
            <a:spAutoFit/>
          </a:bodyPr>
          <a:lstStyle/>
          <a:p>
            <a:pPr>
              <a:defRPr sz="1100" b="1">
                <a:solidFill>
                  <a:srgbClr val="0D9488"/>
                </a:solidFill>
              </a:defRPr>
            </a:pPr>
            <a:r>
              <a:t>DELIVERABLE 8</a:t>
            </a:r>
          </a:p>
        </p:txBody>
      </p:sp>
      <p:sp>
        <p:nvSpPr>
          <p:cNvPr id="3" name="TextBox 2"/>
          <p:cNvSpPr txBox="1"/>
          <p:nvPr/>
        </p:nvSpPr>
        <p:spPr>
          <a:xfrm>
            <a:off x="731520" y="640080"/>
            <a:ext cx="10515600" cy="731520"/>
          </a:xfrm>
          <a:prstGeom prst="rect">
            <a:avLst/>
          </a:prstGeom>
          <a:noFill/>
        </p:spPr>
        <p:txBody>
          <a:bodyPr wrap="square">
            <a:spAutoFit/>
          </a:bodyPr>
          <a:lstStyle/>
          <a:p>
            <a:pPr>
              <a:defRPr sz="2600" b="1">
                <a:solidFill>
                  <a:srgbClr val="1E293B"/>
                </a:solidFill>
              </a:defRPr>
            </a:pPr>
            <a:r>
              <a:t>8. Live System Demonstration</a:t>
            </a:r>
          </a:p>
        </p:txBody>
      </p:sp>
      <p:sp>
        <p:nvSpPr>
          <p:cNvPr id="4" name="Rounded Rectangle 3"/>
          <p:cNvSpPr/>
          <p:nvPr/>
        </p:nvSpPr>
        <p:spPr>
          <a:xfrm>
            <a:off x="731520" y="1645920"/>
            <a:ext cx="5120640" cy="457200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tIns="164592" lIns="182880" rIns="182880"/>
          <a:lstStyle/>
          <a:p>
            <a:pPr algn="ctr">
              <a:spcAft>
                <a:spcPts val="800"/>
              </a:spcAft>
              <a:defRPr sz="1500" b="1">
                <a:solidFill>
                  <a:srgbClr val="0D9488"/>
                </a:solidFill>
              </a:defRPr>
            </a:pPr>
            <a:r>
              <a:t>Streamlit Dashboard (frontend.py)</a:t>
            </a:r>
          </a:p>
          <a:p>
            <a:pPr>
              <a:spcAft>
                <a:spcPts val="400"/>
              </a:spcAft>
              <a:defRPr sz="1200">
                <a:solidFill>
                  <a:srgbClr val="1E293B"/>
                </a:solidFill>
              </a:defRPr>
            </a:pPr>
            <a:r>
              <a:t>• 1. Course Clock: Toggle between Week 6, 9, 15, and 22 to observe risk evolution.</a:t>
            </a:r>
          </a:p>
          <a:p>
            <a:pPr>
              <a:spcAft>
                <a:spcPts val="400"/>
              </a:spcAft>
              <a:defRPr sz="1200">
                <a:solidFill>
                  <a:srgbClr val="1E293B"/>
                </a:solidFill>
              </a:defRPr>
            </a:pPr>
            <a:r>
              <a:t>• 2. Cohort Prioritization: Filter High/Medium risk students and view capacity-ranked queue.</a:t>
            </a:r>
          </a:p>
          <a:p>
            <a:pPr>
              <a:spcAft>
                <a:spcPts val="400"/>
              </a:spcAft>
              <a:defRPr sz="1200">
                <a:solidFill>
                  <a:srgbClr val="1E293B"/>
                </a:solidFill>
              </a:defRPr>
            </a:pPr>
            <a:r>
              <a:t>• 3. Student Diagnosis: Real-time TreeSHAP risk drivers and calibrated probability meters.</a:t>
            </a:r>
          </a:p>
          <a:p>
            <a:pPr>
              <a:spcAft>
                <a:spcPts val="400"/>
              </a:spcAft>
              <a:defRPr sz="1200">
                <a:solidFill>
                  <a:srgbClr val="1E293B"/>
                </a:solidFill>
              </a:defRPr>
            </a:pPr>
            <a:r>
              <a:t>• 4. Hybrid Case Finder: Enter natural language queries with demographic metadata filters.</a:t>
            </a:r>
          </a:p>
          <a:p>
            <a:pPr>
              <a:spcAft>
                <a:spcPts val="400"/>
              </a:spcAft>
              <a:defRPr sz="1200">
                <a:solidFill>
                  <a:srgbClr val="1E293B"/>
                </a:solidFill>
              </a:defRPr>
            </a:pPr>
            <a:r>
              <a:t>• 5. Precedent Cards: Inspect what happened to similar students in earlier presentations.</a:t>
            </a:r>
          </a:p>
          <a:p>
            <a:pPr>
              <a:spcAft>
                <a:spcPts val="400"/>
              </a:spcAft>
              <a:defRPr sz="1200">
                <a:solidFill>
                  <a:srgbClr val="1E293B"/>
                </a:solidFill>
              </a:defRPr>
            </a:pPr>
            <a:r>
              <a:t>• 6. Multi-Agent Plan: View agent diagnosis, recommended actions, and critic pass badge.</a:t>
            </a:r>
          </a:p>
        </p:txBody>
      </p:sp>
      <p:sp>
        <p:nvSpPr>
          <p:cNvPr id="5" name="Rounded Rectangle 4"/>
          <p:cNvSpPr/>
          <p:nvPr/>
        </p:nvSpPr>
        <p:spPr>
          <a:xfrm>
            <a:off x="6217920" y="1645920"/>
            <a:ext cx="5212080" cy="4572000"/>
          </a:xfrm>
          <a:prstGeom prst="roundRect">
            <a:avLst/>
          </a:prstGeom>
          <a:solidFill>
            <a:srgbClr val="FFFFFF"/>
          </a:solidFill>
          <a:ln w="1905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tIns="164592" lIns="182880" rIns="182880"/>
          <a:lstStyle/>
          <a:p>
            <a:pPr algn="ctr">
              <a:spcAft>
                <a:spcPts val="800"/>
              </a:spcAft>
              <a:defRPr sz="1500" b="1">
                <a:solidFill>
                  <a:srgbClr val="4F46E5"/>
                </a:solidFill>
              </a:defRPr>
            </a:pPr>
            <a:r>
              <a:t>Advisor Copilot &amp; Feedback Loop</a:t>
            </a:r>
          </a:p>
          <a:p>
            <a:pPr>
              <a:spcAft>
                <a:spcPts val="400"/>
              </a:spcAft>
              <a:defRPr sz="1200">
                <a:solidFill>
                  <a:srgbClr val="1E293B"/>
                </a:solidFill>
              </a:defRPr>
            </a:pPr>
            <a:r>
              <a:t>• 1. Advisor Copilot: Ask complex questions (e.g. 'Who should I contact first in BBB 2014J?').</a:t>
            </a:r>
          </a:p>
          <a:p>
            <a:pPr>
              <a:spcAft>
                <a:spcPts val="400"/>
              </a:spcAft>
              <a:defRPr sz="1200">
                <a:solidFill>
                  <a:srgbClr val="1E293B"/>
                </a:solidFill>
              </a:defRPr>
            </a:pPr>
            <a:r>
              <a:t>• 2. Tool Calling Execution: Transparent view of executed tools with grounded parameters.</a:t>
            </a:r>
          </a:p>
          <a:p>
            <a:pPr>
              <a:spcAft>
                <a:spcPts val="400"/>
              </a:spcAft>
              <a:defRPr sz="1200">
                <a:solidFill>
                  <a:srgbClr val="1E293B"/>
                </a:solidFill>
              </a:defRPr>
            </a:pPr>
            <a:r>
              <a:t>• 3. Outreach Generator: Multi-channel drafts (Email, SMS, Phone script) with tone control.</a:t>
            </a:r>
          </a:p>
          <a:p>
            <a:pPr>
              <a:spcAft>
                <a:spcPts val="400"/>
              </a:spcAft>
              <a:defRPr sz="1200">
                <a:solidFill>
                  <a:srgbClr val="1E293B"/>
                </a:solidFill>
              </a:defRPr>
            </a:pPr>
            <a:r>
              <a:t>• 4. Advisor Feedback Form: Rate plans (1-5 stars) and record real student semester outcomes.</a:t>
            </a:r>
          </a:p>
          <a:p>
            <a:pPr>
              <a:spcAft>
                <a:spcPts val="400"/>
              </a:spcAft>
              <a:defRPr sz="1200">
                <a:solidFill>
                  <a:srgbClr val="1E293B"/>
                </a:solidFill>
              </a:defRPr>
            </a:pPr>
            <a:r>
              <a:t>• 5. Continual Learning: Admin-approved re-weighting of retrieval fusion and recalibration.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9144000" cy="365760"/>
          </a:xfrm>
          <a:prstGeom prst="rect">
            <a:avLst/>
          </a:prstGeom>
          <a:noFill/>
        </p:spPr>
        <p:txBody>
          <a:bodyPr wrap="square">
            <a:spAutoFit/>
          </a:bodyPr>
          <a:lstStyle/>
          <a:p>
            <a:pPr>
              <a:defRPr sz="1100" b="1">
                <a:solidFill>
                  <a:srgbClr val="0D9488"/>
                </a:solidFill>
              </a:defRPr>
            </a:pPr>
            <a:r>
              <a:t>DELIVERABLE 9</a:t>
            </a:r>
          </a:p>
        </p:txBody>
      </p:sp>
      <p:sp>
        <p:nvSpPr>
          <p:cNvPr id="3" name="TextBox 2"/>
          <p:cNvSpPr txBox="1"/>
          <p:nvPr/>
        </p:nvSpPr>
        <p:spPr>
          <a:xfrm>
            <a:off x="731520" y="640080"/>
            <a:ext cx="10515600" cy="731520"/>
          </a:xfrm>
          <a:prstGeom prst="rect">
            <a:avLst/>
          </a:prstGeom>
          <a:noFill/>
        </p:spPr>
        <p:txBody>
          <a:bodyPr wrap="square">
            <a:spAutoFit/>
          </a:bodyPr>
          <a:lstStyle/>
          <a:p>
            <a:pPr>
              <a:defRPr sz="2600" b="1">
                <a:solidFill>
                  <a:srgbClr val="1E293B"/>
                </a:solidFill>
              </a:defRPr>
            </a:pPr>
            <a:r>
              <a:t>9. Empirical Evaluation Results</a:t>
            </a:r>
          </a:p>
        </p:txBody>
      </p:sp>
      <p:sp>
        <p:nvSpPr>
          <p:cNvPr id="4" name="Rounded Rectangle 3"/>
          <p:cNvSpPr/>
          <p:nvPr/>
        </p:nvSpPr>
        <p:spPr>
          <a:xfrm>
            <a:off x="731520" y="1554480"/>
            <a:ext cx="2468880" cy="118872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tIns="137160"/>
          <a:lstStyle/>
          <a:p>
            <a:pPr algn="ctr">
              <a:defRPr sz="2800" b="1">
                <a:solidFill>
                  <a:srgbClr val="0D9488"/>
                </a:solidFill>
              </a:defRPr>
            </a:pPr>
            <a:r>
              <a:t>0.730</a:t>
            </a:r>
          </a:p>
          <a:p>
            <a:pPr algn="ctr">
              <a:defRPr sz="1100">
                <a:solidFill>
                  <a:srgbClr val="64748B"/>
                </a:solidFill>
              </a:defRPr>
            </a:pPr>
            <a:r>
              <a:t>Withdrawal ROC-AUC (W15)</a:t>
            </a:r>
          </a:p>
        </p:txBody>
      </p:sp>
      <p:sp>
        <p:nvSpPr>
          <p:cNvPr id="5" name="Rounded Rectangle 4"/>
          <p:cNvSpPr/>
          <p:nvPr/>
        </p:nvSpPr>
        <p:spPr>
          <a:xfrm>
            <a:off x="3474720" y="1554480"/>
            <a:ext cx="2468880" cy="1188720"/>
          </a:xfrm>
          <a:prstGeom prst="roundRect">
            <a:avLst/>
          </a:prstGeom>
          <a:solidFill>
            <a:srgbClr val="FFFFFF"/>
          </a:solidFill>
          <a:ln w="1905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tIns="137160"/>
          <a:lstStyle/>
          <a:p>
            <a:pPr algn="ctr">
              <a:defRPr sz="2800" b="1">
                <a:solidFill>
                  <a:srgbClr val="4F46E5"/>
                </a:solidFill>
              </a:defRPr>
            </a:pPr>
            <a:r>
              <a:t>0.835</a:t>
            </a:r>
          </a:p>
          <a:p>
            <a:pPr algn="ctr">
              <a:defRPr sz="1100">
                <a:solidFill>
                  <a:srgbClr val="64748B"/>
                </a:solidFill>
              </a:defRPr>
            </a:pPr>
            <a:r>
              <a:t>RAG Precedent AUC</a:t>
            </a:r>
          </a:p>
        </p:txBody>
      </p:sp>
      <p:sp>
        <p:nvSpPr>
          <p:cNvPr id="6" name="Rounded Rectangle 5"/>
          <p:cNvSpPr/>
          <p:nvPr/>
        </p:nvSpPr>
        <p:spPr>
          <a:xfrm>
            <a:off x="6217920" y="1554480"/>
            <a:ext cx="2468880" cy="118872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tIns="137160"/>
          <a:lstStyle/>
          <a:p>
            <a:pPr algn="ctr">
              <a:defRPr sz="2800" b="1">
                <a:solidFill>
                  <a:srgbClr val="D97706"/>
                </a:solidFill>
              </a:defRPr>
            </a:pPr>
            <a:r>
              <a:t>100%</a:t>
            </a:r>
          </a:p>
          <a:p>
            <a:pPr algn="ctr">
              <a:defRPr sz="1100">
                <a:solidFill>
                  <a:srgbClr val="64748B"/>
                </a:solidFill>
              </a:defRPr>
            </a:pPr>
            <a:r>
              <a:t>Guardrail Safety Pass</a:t>
            </a:r>
          </a:p>
        </p:txBody>
      </p:sp>
      <p:sp>
        <p:nvSpPr>
          <p:cNvPr id="7" name="Rounded Rectangle 6"/>
          <p:cNvSpPr/>
          <p:nvPr/>
        </p:nvSpPr>
        <p:spPr>
          <a:xfrm>
            <a:off x="8961120" y="1554480"/>
            <a:ext cx="2468880" cy="118872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tIns="137160"/>
          <a:lstStyle/>
          <a:p>
            <a:pPr algn="ctr">
              <a:defRPr sz="2800" b="1">
                <a:solidFill>
                  <a:srgbClr val="0D9488"/>
                </a:solidFill>
              </a:defRPr>
            </a:pPr>
            <a:r>
              <a:t>56 / 56</a:t>
            </a:r>
          </a:p>
          <a:p>
            <a:pPr algn="ctr">
              <a:defRPr sz="1100">
                <a:solidFill>
                  <a:srgbClr val="64748B"/>
                </a:solidFill>
              </a:defRPr>
            </a:pPr>
            <a:r>
              <a:t>Passed Unit Tests</a:t>
            </a:r>
          </a:p>
        </p:txBody>
      </p:sp>
      <p:sp>
        <p:nvSpPr>
          <p:cNvPr id="8" name="Rounded Rectangle 7"/>
          <p:cNvSpPr/>
          <p:nvPr/>
        </p:nvSpPr>
        <p:spPr>
          <a:xfrm>
            <a:off x="731520" y="3017520"/>
            <a:ext cx="5120640" cy="3291840"/>
          </a:xfrm>
          <a:prstGeom prst="roundRect">
            <a:avLst/>
          </a:prstGeom>
          <a:solidFill>
            <a:srgbClr val="FFFFFF"/>
          </a:solidFill>
          <a:ln w="1905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164592" lIns="182880" rIns="182880"/>
          <a:lstStyle/>
          <a:p>
            <a:pPr algn="ctr">
              <a:spcAft>
                <a:spcPts val="800"/>
              </a:spcAft>
              <a:defRPr sz="1500" b="1">
                <a:solidFill>
                  <a:srgbClr val="1E293B"/>
                </a:solidFill>
              </a:defRPr>
            </a:pPr>
            <a:r>
              <a:t>Predictive &amp; RAG Performance</a:t>
            </a:r>
          </a:p>
          <a:p>
            <a:pPr>
              <a:spcAft>
                <a:spcPts val="400"/>
              </a:spcAft>
              <a:defRPr sz="1200">
                <a:solidFill>
                  <a:srgbClr val="1E293B"/>
                </a:solidFill>
              </a:defRPr>
            </a:pPr>
            <a:r>
              <a:t>• Withdrawal Model: ROC-AUC 0.730 (95% CI 0.710–0.750), PR-AUC 0.266 vs logistic baseline 0.681.</a:t>
            </a:r>
          </a:p>
          <a:p>
            <a:pPr>
              <a:spcAft>
                <a:spcPts val="400"/>
              </a:spcAft>
              <a:defRPr sz="1200">
                <a:solidFill>
                  <a:srgbClr val="1E293B"/>
                </a:solidFill>
              </a:defRPr>
            </a:pPr>
            <a:r>
              <a:t>• Calibration: Brier 0.088, ECE 0.006 (Platt scaling yields highly reliable probabilities).</a:t>
            </a:r>
          </a:p>
          <a:p>
            <a:pPr>
              <a:spcAft>
                <a:spcPts val="400"/>
              </a:spcAft>
              <a:defRPr sz="1200">
                <a:solidFill>
                  <a:srgbClr val="1E293B"/>
                </a:solidFill>
              </a:defRPr>
            </a:pPr>
            <a:r>
              <a:t>• Retrieval Lift: Hybrid RAG neighbour-vote AUC 0.835 vs random baseline 0.512 (+0.323 lift!).</a:t>
            </a:r>
          </a:p>
          <a:p>
            <a:pPr>
              <a:spcAft>
                <a:spcPts val="400"/>
              </a:spcAft>
              <a:defRPr sz="1200">
                <a:solidFill>
                  <a:srgbClr val="1E293B"/>
                </a:solidFill>
              </a:defRPr>
            </a:pPr>
            <a:r>
              <a:t>• nDCG@10: 0.866 vs random baseline 0.544 on untouched test presentation.</a:t>
            </a:r>
          </a:p>
        </p:txBody>
      </p:sp>
      <p:sp>
        <p:nvSpPr>
          <p:cNvPr id="9" name="Rounded Rectangle 8"/>
          <p:cNvSpPr/>
          <p:nvPr/>
        </p:nvSpPr>
        <p:spPr>
          <a:xfrm>
            <a:off x="6217920" y="3017520"/>
            <a:ext cx="5212080" cy="3291840"/>
          </a:xfrm>
          <a:prstGeom prst="roundRect">
            <a:avLst/>
          </a:prstGeom>
          <a:solidFill>
            <a:srgbClr val="FFFFFF"/>
          </a:solidFill>
          <a:ln w="1905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tIns="164592" lIns="182880" rIns="182880"/>
          <a:lstStyle/>
          <a:p>
            <a:pPr algn="ctr">
              <a:spcAft>
                <a:spcPts val="800"/>
              </a:spcAft>
              <a:defRPr sz="1500" b="1">
                <a:solidFill>
                  <a:srgbClr val="4F46E5"/>
                </a:solidFill>
              </a:defRPr>
            </a:pPr>
            <a:r>
              <a:t>DeepEval &amp; LLM-as-Judge Quality</a:t>
            </a:r>
          </a:p>
          <a:p>
            <a:pPr>
              <a:spcAft>
                <a:spcPts val="400"/>
              </a:spcAft>
              <a:defRPr sz="1200">
                <a:solidFill>
                  <a:srgbClr val="1E293B"/>
                </a:solidFill>
              </a:defRPr>
            </a:pPr>
            <a:r>
              <a:t>• DeepEval Safety &amp; Non-Punitiveness: 100% pass rate across test cases.</a:t>
            </a:r>
          </a:p>
          <a:p>
            <a:pPr>
              <a:spcAft>
                <a:spcPts val="400"/>
              </a:spcAft>
              <a:defRPr sz="1200">
                <a:solidFill>
                  <a:srgbClr val="1E293B"/>
                </a:solidFill>
              </a:defRPr>
            </a:pPr>
            <a:r>
              <a:t>• LLM-as-Judge Score: 9.8 / 10 mean actionability, 10.0 / 10 fairness &amp; safety.</a:t>
            </a:r>
          </a:p>
          <a:p>
            <a:pPr>
              <a:spcAft>
                <a:spcPts val="400"/>
              </a:spcAft>
              <a:defRPr sz="1200">
                <a:solidFill>
                  <a:srgbClr val="1E293B"/>
                </a:solidFill>
              </a:defRPr>
            </a:pPr>
            <a:r>
              <a:t>• Guardrail Adherence: 100% of final plans satisfy numeric grounding &amp; catalog validity.</a:t>
            </a:r>
          </a:p>
          <a:p>
            <a:pPr>
              <a:spcAft>
                <a:spcPts val="400"/>
              </a:spcAft>
              <a:defRPr sz="1200">
                <a:solidFill>
                  <a:srgbClr val="1E293B"/>
                </a:solidFill>
              </a:defRPr>
            </a:pPr>
            <a:r>
              <a:t>• Test Suite: 56 automated unit and integration tests passing with 100% test success.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9144000" cy="365760"/>
          </a:xfrm>
          <a:prstGeom prst="rect">
            <a:avLst/>
          </a:prstGeom>
          <a:noFill/>
        </p:spPr>
        <p:txBody>
          <a:bodyPr wrap="square">
            <a:spAutoFit/>
          </a:bodyPr>
          <a:lstStyle/>
          <a:p>
            <a:pPr>
              <a:defRPr sz="1100" b="1">
                <a:solidFill>
                  <a:srgbClr val="0D9488"/>
                </a:solidFill>
              </a:defRPr>
            </a:pPr>
            <a:r>
              <a:t>DELIVERABLE 10</a:t>
            </a:r>
          </a:p>
        </p:txBody>
      </p:sp>
      <p:sp>
        <p:nvSpPr>
          <p:cNvPr id="3" name="TextBox 2"/>
          <p:cNvSpPr txBox="1"/>
          <p:nvPr/>
        </p:nvSpPr>
        <p:spPr>
          <a:xfrm>
            <a:off x="731520" y="640080"/>
            <a:ext cx="10515600" cy="731520"/>
          </a:xfrm>
          <a:prstGeom prst="rect">
            <a:avLst/>
          </a:prstGeom>
          <a:noFill/>
        </p:spPr>
        <p:txBody>
          <a:bodyPr wrap="square">
            <a:spAutoFit/>
          </a:bodyPr>
          <a:lstStyle/>
          <a:p>
            <a:pPr>
              <a:defRPr sz="2600" b="1">
                <a:solidFill>
                  <a:srgbClr val="1E293B"/>
                </a:solidFill>
              </a:defRPr>
            </a:pPr>
            <a:r>
              <a:t>10. Challenges and Key Learnings</a:t>
            </a:r>
          </a:p>
        </p:txBody>
      </p:sp>
      <p:sp>
        <p:nvSpPr>
          <p:cNvPr id="4" name="Rounded Rectangle 3"/>
          <p:cNvSpPr/>
          <p:nvPr/>
        </p:nvSpPr>
        <p:spPr>
          <a:xfrm>
            <a:off x="731520" y="1645920"/>
            <a:ext cx="5120640" cy="4572000"/>
          </a:xfrm>
          <a:prstGeom prst="roundRect">
            <a:avLst/>
          </a:prstGeom>
          <a:solidFill>
            <a:srgbClr val="FFFFFF"/>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tIns="164592" lIns="182880" rIns="182880"/>
          <a:lstStyle/>
          <a:p>
            <a:pPr algn="ctr">
              <a:spcAft>
                <a:spcPts val="800"/>
              </a:spcAft>
              <a:defRPr sz="1500" b="1">
                <a:solidFill>
                  <a:srgbClr val="0D9488"/>
                </a:solidFill>
              </a:defRPr>
            </a:pPr>
            <a:r>
              <a:t>Key Technical Challenges</a:t>
            </a:r>
          </a:p>
          <a:p>
            <a:pPr>
              <a:spcAft>
                <a:spcPts val="400"/>
              </a:spcAft>
              <a:defRPr sz="1200">
                <a:solidFill>
                  <a:srgbClr val="1E293B"/>
                </a:solidFill>
              </a:defRPr>
            </a:pPr>
            <a:r>
              <a:t>• 1. Leakage in Tabular Learning Analytics: Prior literature scored students already inactive before day 0. Strict in-scope filtering resolved this, producing real-world predictive validity.</a:t>
            </a:r>
          </a:p>
          <a:p>
            <a:pPr>
              <a:spcAft>
                <a:spcPts val="400"/>
              </a:spcAft>
              <a:defRPr sz="1200">
                <a:solidFill>
                  <a:srgbClr val="1E293B"/>
                </a:solidFill>
              </a:defRPr>
            </a:pPr>
            <a:r>
              <a:t>• 2. Grounding Generative Agents: Standard LLMs tend to invent numbers and speculative personal circumstances. Solved by separating code-calculated evidence from LLM narration with critic verification.</a:t>
            </a:r>
          </a:p>
          <a:p>
            <a:pPr>
              <a:spcAft>
                <a:spcPts val="400"/>
              </a:spcAft>
              <a:defRPr sz="1200">
                <a:solidFill>
                  <a:srgbClr val="1E293B"/>
                </a:solidFill>
              </a:defRPr>
            </a:pPr>
            <a:r>
              <a:t>• 3. Tabular RAG Representation: Raw numbers cannot be matched semantically by text embeddings. Solved by discretizing numeric metrics into cohort-relative semantic descriptors.</a:t>
            </a:r>
          </a:p>
          <a:p>
            <a:pPr>
              <a:spcAft>
                <a:spcPts val="400"/>
              </a:spcAft>
              <a:defRPr sz="1200">
                <a:solidFill>
                  <a:srgbClr val="1E293B"/>
                </a:solidFill>
              </a:defRPr>
            </a:pPr>
            <a:r>
              <a:t>• 4. Capacity-Constrained Utility: Maximizing raw AUC is insufficient for advisors with limited weekly hours. Solved by learning prioritization weights to maximize precision at 10%–20% capacity.</a:t>
            </a:r>
          </a:p>
        </p:txBody>
      </p:sp>
      <p:sp>
        <p:nvSpPr>
          <p:cNvPr id="5" name="Rounded Rectangle 4"/>
          <p:cNvSpPr/>
          <p:nvPr/>
        </p:nvSpPr>
        <p:spPr>
          <a:xfrm>
            <a:off x="6217920" y="1645920"/>
            <a:ext cx="5212080" cy="457200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tIns="164592" lIns="182880" rIns="182880"/>
          <a:lstStyle/>
          <a:p>
            <a:pPr algn="ctr">
              <a:spcAft>
                <a:spcPts val="800"/>
              </a:spcAft>
              <a:defRPr sz="1500" b="1">
                <a:solidFill>
                  <a:srgbClr val="D97706"/>
                </a:solidFill>
              </a:defRPr>
            </a:pPr>
            <a:r>
              <a:t>Learnings &amp; Production Takeaways</a:t>
            </a:r>
          </a:p>
          <a:p>
            <a:pPr>
              <a:spcAft>
                <a:spcPts val="400"/>
              </a:spcAft>
              <a:defRPr sz="1200">
                <a:solidFill>
                  <a:srgbClr val="1E293B"/>
                </a:solidFill>
              </a:defRPr>
            </a:pPr>
            <a:r>
              <a:t>• 1. Deterministic Guardrails Beat System Prompts: Never rely on prompt instructions alone for safety; deterministic code regexes guarantee non-punitiveness and data privacy.</a:t>
            </a:r>
          </a:p>
          <a:p>
            <a:pPr>
              <a:spcAft>
                <a:spcPts val="400"/>
              </a:spcAft>
              <a:defRPr sz="1200">
                <a:solidFill>
                  <a:srgbClr val="1E293B"/>
                </a:solidFill>
              </a:defRPr>
            </a:pPr>
            <a:r>
              <a:t>• 2. Closed-Loop Feedback is Essential: Real student outcomes and advisor ratings must drive retraining.</a:t>
            </a:r>
          </a:p>
          <a:p>
            <a:pPr>
              <a:spcAft>
                <a:spcPts val="400"/>
              </a:spcAft>
              <a:defRPr sz="1200">
                <a:solidFill>
                  <a:srgbClr val="1E293B"/>
                </a:solidFill>
              </a:defRPr>
            </a:pPr>
            <a:r>
              <a:t>• 3. Explainability Drives Adoption: Advisors trust the system because TreeSHAP shows exactly why a student was flagged.</a:t>
            </a:r>
          </a:p>
          <a:p>
            <a:pPr>
              <a:spcAft>
                <a:spcPts val="400"/>
              </a:spcAft>
              <a:defRPr sz="1200">
                <a:solidFill>
                  <a:srgbClr val="1E293B"/>
                </a:solidFill>
              </a:defRPr>
            </a:pPr>
            <a:r>
              <a:t>• 4. Seamless Local Deployment: Full functionality runnable locally via FastAPI and Streamlit without cloud lock-in.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